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Hi, we are group __. We inherited the Singapore Vertical Farming system, one Java file written by an intern. In the next five minutes we'll cover what was wrong with it, how we restructured it with SOLID and design patterns, the concurrency bugs we found and fixed, and then we'll show it running, including adding a new crop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The program simulates four chambers, checks readings against crop thresholds, raises alerts, runs devices and writes a report. All of that lived in one class. processSensor alone was 65 lines of copy-pasted if-blocks, one per crop and sensor, so adding Kale meant editing core logic. Everything was public static, there were no interfaces, and messages between threads were strings like 'CH1|Cooling Fan'. Before touching anything we recorded the legacy output as golden files, so we could prove we did not change behaviour.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The intern added threads, but nothing shared was protected. Three bugs we can actually reproduce. First, our very first run crashed with a NullPointerException: getChamberState does check-then-put on a HashMap, so two threads race. Second, totals use plus-equals from four threads; our demo test expected 80 million litres and the legacy code counted about 11 million. Third, the queue code swallows InterruptedException; a blocked producer cannot be cancelled. If the control thread dies, every chamber waits forever on the full queue and main waits on join: a circular wait. There's also a latent lock-ordering deadlock: two methods nest alertLock then reportLock; any method taking them the other way deadlocks.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We split by responsibility into 14 packages and around 65 small classes. S: printing, report content, file writing, rules and threading are separate classes. O: crops are data, and new devices, rules and reports are new classes, so we don't edit existing ones. L: we removed extends Thread; tasks are Runnables run by executors and respect interrupts. I: small role interfaces such as AlertRule, Device, AlertListener and ReportWriter. D: everything gets its dependencies through the constructor, and only FacilityAssembler creates concrete classes.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app wires everything. Chamber tasks publish readings to the SensorHub; the ChamberMonitor runs the alert rules; alerts fan out to listeners: printer, summaries, resource accounting, and the device responder, which puts a command on the control queue. Reports are built from one immutable snapshot at the end of the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We only used patterns where they removed a specific legacy problem. Strategy replaced the long if/else of checks. Observer replaced the handleEvent string switch. Command replaced the 'CH1|Cooling Fan' strings and lets us run commands either on the queue or immediately. Template Method removed the duplicated report code. The registry and properties files make crops data. We deliberately did NOT use Singleton, because global state was the original disease.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This is the Open/Closed principle in practice. On the left is how a crop looked in the legacy code; on the right is Kale now. We added Kale, Bell Pepper, Bok Choy and Eggplant without touching a single Java file. You can even add one at runtime with --crops, which we'll show in the demo. Removing a crop is deleting its block.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Fixes map one-to-one to the bugs. computeIfAbsent makes check-and-insert atomic. Totals are AtomicLongs. Lists live behind a single lock inside AlertService. Readings, alerts and snapshots are immutable records. For deadlocks, our rule is simple: no method ever holds two locks at once, and we never call listeners while holding a lock. We still documented a global order in case that ever changes. The queue is an ArrayBlockingQueue that restores the interrupt flag, and executors with timeouts replace raw threads.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How do we know we did not break anything? The golden tests run the new system on the same inputs as the legacy code and the console output, sensor log and report file are identical, byte for byte. 49 tests in total, including stress tests and three tests that reproduce the original bugs on the legacy code. mvn clean package runs everything and builds run.jar.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terminal; follow DEMO_SCRIPT.md.) 1) Run the jar: same output as the legacy program. 2) Show Kale in crops.properties and --list-crops. 3) Grow Kale in CH5 with a chambers file, deterministic run. 4) Add a brand-new crop, Basil, from a file at runtime. 5) Run the concurrency tests: the legacy demo shows lost updates, and the new code is exact.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To wrap up: same behaviour, proven by golden tests; a SOLID, pattern-based structure; crops as data; and every concurrency bug identified, reproduced and fixed with tests.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2743200"/>
          </a:xfrm>
          <a:prstGeom prst="rect">
            <a:avLst/>
          </a:prstGeom>
          <a:noFill/>
        </p:spPr>
        <p:txBody>
          <a:bodyPr wrap="square">
            <a:spAutoFit/>
          </a:bodyPr>
          <a:lstStyle/>
          <a:p>
            <a:pPr>
              <a:spcAft>
                <a:spcPts val="1800"/>
              </a:spcAft>
              <a:defRPr sz="3600" b="1">
                <a:solidFill>
                  <a:srgbClr val="FFFFFF"/>
                </a:solidFill>
              </a:defRPr>
            </a:pPr>
            <a:r>
              <a:t>SVFRMS: from a 393-line god class to a maintainable, thread-safe system</a:t>
            </a:r>
          </a:p>
          <a:p>
            <a:pPr>
              <a:spcAft>
                <a:spcPts val="1800"/>
              </a:spcAft>
              <a:defRPr sz="2200" b="0">
                <a:solidFill>
                  <a:srgbClr val="FFFFFF"/>
                </a:solidFill>
              </a:defRPr>
            </a:pPr>
            <a:r>
              <a:t>SE301 Legacy Refactoring &amp; Modernization</a:t>
            </a:r>
          </a:p>
          <a:p>
            <a:pPr>
              <a:spcAft>
                <a:spcPts val="1800"/>
              </a:spcAft>
              <a:defRPr sz="2000" b="0">
                <a:solidFill>
                  <a:srgbClr val="FFFFFF"/>
                </a:solidFill>
              </a:defRPr>
            </a:pPr>
            <a:r>
              <a:t>Group [__]  ·  [Member 1]  ·  [Member 2]  ·  [Member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1 · The legacy system and what we found</a:t>
            </a:r>
          </a:p>
        </p:txBody>
      </p:sp>
      <p:sp>
        <p:nvSpPr>
          <p:cNvPr id="3" name="TextBox 2"/>
          <p:cNvSpPr txBox="1"/>
          <p:nvPr/>
        </p:nvSpPr>
        <p:spPr>
          <a:xfrm>
            <a:off x="457200" y="1005840"/>
            <a:ext cx="11247120" cy="457200"/>
          </a:xfrm>
          <a:prstGeom prst="rect">
            <a:avLst/>
          </a:prstGeom>
          <a:noFill/>
        </p:spPr>
        <p:txBody>
          <a:bodyPr wrap="none">
            <a:spAutoFit/>
          </a:bodyPr>
          <a:lstStyle/>
          <a:p>
            <a:pPr>
              <a:defRPr sz="1600" i="1">
                <a:solidFill>
                  <a:srgbClr val="555F6B"/>
                </a:solidFill>
              </a:defRPr>
            </a:pPr>
            <a:r>
              <a:t>One file · 15 responsibilities · 0 interfaces · everything public static</a:t>
            </a:r>
          </a:p>
        </p:txBody>
      </p:sp>
      <p:sp>
        <p:nvSpPr>
          <p:cNvPr id="4" name="TextBox 3"/>
          <p:cNvSpPr txBox="1"/>
          <p:nvPr/>
        </p:nvSpPr>
        <p:spPr>
          <a:xfrm>
            <a:off x="548640" y="1554480"/>
            <a:ext cx="6583680" cy="4937760"/>
          </a:xfrm>
          <a:prstGeom prst="rect">
            <a:avLst/>
          </a:prstGeom>
          <a:noFill/>
        </p:spPr>
        <p:txBody>
          <a:bodyPr wrap="square">
            <a:spAutoFit/>
          </a:bodyPr>
          <a:lstStyle/>
          <a:p>
            <a:pPr>
              <a:spcAft>
                <a:spcPts val="600"/>
              </a:spcAft>
              <a:defRPr sz="1900"/>
            </a:pPr>
            <a:r>
              <a:t>• God class: state, rules, devices, threads, printing and file I/O all in SVFRMS.java</a:t>
            </a:r>
          </a:p>
          <a:p>
            <a:pPr>
              <a:spcAft>
                <a:spcPts val="600"/>
              </a:spcAft>
              <a:defRPr sz="1900"/>
            </a:pPr>
            <a:r>
              <a:t>• Crops hard-coded: one else-if block per crop × sensor in processSensor()</a:t>
            </a:r>
          </a:p>
          <a:p>
            <a:pPr>
              <a:spcAft>
                <a:spcPts val="600"/>
              </a:spcAft>
              <a:defRPr sz="1900"/>
            </a:pPr>
            <a:r>
              <a:t>• Stringly-typed: handleEvent("CREATE_ALERT", ...), queue items "CH1|Cooling Fan"</a:t>
            </a:r>
          </a:p>
          <a:p>
            <a:pPr>
              <a:spcAft>
                <a:spcPts val="600"/>
              </a:spcAft>
              <a:defRPr sz="1900"/>
            </a:pPr>
            <a:r>
              <a:t>• ControlThread extends Thread but swallows interrupts (breaks the Thread contract)</a:t>
            </a:r>
          </a:p>
          <a:p>
            <a:pPr>
              <a:spcAft>
                <a:spcPts val="600"/>
              </a:spcAft>
              <a:defRPr sz="1900"/>
            </a:pPr>
            <a:r>
              <a:t>• Dead code and duplication: report header written twice, 2 locks never used</a:t>
            </a:r>
          </a:p>
          <a:p>
            <a:pPr>
              <a:spcAft>
                <a:spcPts val="600"/>
              </a:spcAft>
              <a:defRPr sz="1900"/>
            </a:pPr>
            <a:r>
              <a:t>• Baseline first: legacy output captured as golden files (1,423 lines)</a:t>
            </a:r>
          </a:p>
        </p:txBody>
      </p:sp>
      <p:sp>
        <p:nvSpPr>
          <p:cNvPr id="5" name="Rectangle 4"/>
          <p:cNvSpPr/>
          <p:nvPr/>
        </p:nvSpPr>
        <p:spPr>
          <a:xfrm>
            <a:off x="7406640" y="1645920"/>
            <a:ext cx="4389120" cy="4206240"/>
          </a:xfrm>
          <a:prstGeom prst="rect">
            <a:avLst/>
          </a:prstGeom>
          <a:solidFill>
            <a:srgbClr val="F5F7FA"/>
          </a:solidFill>
          <a:ln>
            <a:solidFill>
              <a:srgbClr val="B03A2E"/>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defRPr sz="1300">
                <a:solidFill>
                  <a:srgbClr val="1D2530"/>
                </a:solidFill>
                <a:latin typeface="Consolas"/>
              </a:defRPr>
            </a:pPr>
            <a:r>
              <a:t>if(crop.equals("Tomato")){</a:t>
            </a:r>
          </a:p>
          <a:p>
            <a:pPr algn="l">
              <a:defRPr sz="1300">
                <a:solidFill>
                  <a:srgbClr val="1D2530"/>
                </a:solidFill>
                <a:latin typeface="Consolas"/>
              </a:defRPr>
            </a:pPr>
            <a:r>
              <a:t>  if(value&gt;28){</a:t>
            </a:r>
          </a:p>
          <a:p>
            <a:pPr algn="l">
              <a:defRPr sz="1300">
                <a:solidFill>
                  <a:srgbClr val="1D2530"/>
                </a:solidFill>
                <a:latin typeface="Consolas"/>
              </a:defRPr>
            </a:pPr>
            <a:r>
              <a:t>    handleEvent("TRACK_ALERT",...);</a:t>
            </a:r>
          </a:p>
          <a:p>
            <a:pPr algn="l">
              <a:defRPr sz="1300">
                <a:solidFill>
                  <a:srgbClr val="1D2530"/>
                </a:solidFill>
                <a:latin typeface="Consolas"/>
              </a:defRPr>
            </a:pPr>
            <a:r>
              <a:t>    handleEvent("CREATE_ALERT",...);</a:t>
            </a:r>
          </a:p>
          <a:p>
            <a:pPr algn="l">
              <a:defRPr sz="1300">
                <a:solidFill>
                  <a:srgbClr val="1D2530"/>
                </a:solidFill>
                <a:latin typeface="Consolas"/>
              </a:defRPr>
            </a:pPr>
            <a:r>
              <a:t>    totalEnergyUsage+=10;</a:t>
            </a:r>
          </a:p>
          <a:p>
            <a:pPr algn="l">
              <a:defRPr sz="1300">
                <a:solidFill>
                  <a:srgbClr val="1D2530"/>
                </a:solidFill>
                <a:latin typeface="Consolas"/>
              </a:defRPr>
            </a:pPr>
            <a:r>
              <a:t>    addControlRequest(chamber,</a:t>
            </a:r>
          </a:p>
          <a:p>
            <a:pPr algn="l">
              <a:defRPr sz="1300">
                <a:solidFill>
                  <a:srgbClr val="1D2530"/>
                </a:solidFill>
                <a:latin typeface="Consolas"/>
              </a:defRPr>
            </a:pPr>
            <a:r>
              <a:t>        "Cooling Fan");}</a:t>
            </a:r>
          </a:p>
          <a:p>
            <a:pPr algn="l">
              <a:defRPr sz="1300">
                <a:solidFill>
                  <a:srgbClr val="1D2530"/>
                </a:solidFill>
                <a:latin typeface="Consolas"/>
              </a:defRPr>
            </a:pPr>
            <a:r>
              <a:t>  ...</a:t>
            </a:r>
          </a:p>
          <a:p>
            <a:pPr algn="l">
              <a:defRPr sz="1300">
                <a:solidFill>
                  <a:srgbClr val="1D2530"/>
                </a:solidFill>
                <a:latin typeface="Consolas"/>
              </a:defRPr>
            </a:pPr>
            <a:r>
              <a:t>} else if(crop.equals("Strawberry")){</a:t>
            </a:r>
          </a:p>
          <a:p>
            <a:pPr algn="l">
              <a:defRPr sz="1300">
                <a:solidFill>
                  <a:srgbClr val="1D2530"/>
                </a:solidFill>
                <a:latin typeface="Consolas"/>
              </a:defRPr>
            </a:pPr>
            <a:r>
              <a:t>  ... ×6 crops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2 · Concurrency bugs (identified)</a:t>
            </a:r>
          </a:p>
        </p:txBody>
      </p:sp>
      <p:sp>
        <p:nvSpPr>
          <p:cNvPr id="3" name="TextBox 2"/>
          <p:cNvSpPr txBox="1"/>
          <p:nvPr/>
        </p:nvSpPr>
        <p:spPr>
          <a:xfrm>
            <a:off x="457200" y="1005840"/>
            <a:ext cx="11247120" cy="457200"/>
          </a:xfrm>
          <a:prstGeom prst="rect">
            <a:avLst/>
          </a:prstGeom>
          <a:noFill/>
        </p:spPr>
        <p:txBody>
          <a:bodyPr wrap="none">
            <a:spAutoFit/>
          </a:bodyPr>
          <a:lstStyle/>
          <a:p>
            <a:pPr>
              <a:defRPr sz="1600" i="1">
                <a:solidFill>
                  <a:srgbClr val="555F6B"/>
                </a:solidFill>
              </a:defRPr>
            </a:pPr>
            <a:r>
              <a:t>Reproduced on the untouched legacy code by our tests</a:t>
            </a:r>
          </a:p>
        </p:txBody>
      </p:sp>
      <p:graphicFrame>
        <p:nvGraphicFramePr>
          <p:cNvPr id="4" name="Table 3"/>
          <p:cNvGraphicFramePr>
            <a:graphicFrameLocks noGrp="1"/>
          </p:cNvGraphicFramePr>
          <p:nvPr/>
        </p:nvGraphicFramePr>
        <p:xfrm>
          <a:off x="548640" y="1645920"/>
          <a:ext cx="11064240" cy="4023360"/>
        </p:xfrm>
        <a:graphic>
          <a:graphicData uri="http://schemas.openxmlformats.org/drawingml/2006/table">
            <a:tbl>
              <a:tblPr firstRow="1" bandRow="1">
                <a:tableStyleId>{5C22544A-7EE6-4342-B048-85BDC9FD1C3A}</a:tableStyleId>
              </a:tblPr>
              <a:tblGrid>
                <a:gridCol w="3657600"/>
                <a:gridCol w="3291840"/>
                <a:gridCol w="4114800"/>
              </a:tblGrid>
              <a:tr h="502920">
                <a:tc>
                  <a:txBody>
                    <a:bodyPr/>
                    <a:lstStyle/>
                    <a:p>
                      <a:pPr>
                        <a:defRPr sz="1400" b="1">
                          <a:solidFill>
                            <a:srgbClr val="FFFFFF"/>
                          </a:solidFill>
                        </a:defRPr>
                      </a:pPr>
                      <a:r>
                        <a:t>Problem</a:t>
                      </a:r>
                    </a:p>
                  </a:txBody>
                  <a:tcPr>
                    <a:solidFill>
                      <a:srgbClr val="1F4E79"/>
                    </a:solidFill>
                  </a:tcPr>
                </a:tc>
                <a:tc>
                  <a:txBody>
                    <a:bodyPr/>
                    <a:lstStyle/>
                    <a:p>
                      <a:pPr>
                        <a:defRPr sz="1400" b="1">
                          <a:solidFill>
                            <a:srgbClr val="FFFFFF"/>
                          </a:solidFill>
                        </a:defRPr>
                      </a:pPr>
                      <a:r>
                        <a:t>Legacy code</a:t>
                      </a:r>
                    </a:p>
                  </a:txBody>
                  <a:tcPr>
                    <a:solidFill>
                      <a:srgbClr val="1F4E79"/>
                    </a:solidFill>
                  </a:tcPr>
                </a:tc>
                <a:tc>
                  <a:txBody>
                    <a:bodyPr/>
                    <a:lstStyle/>
                    <a:p>
                      <a:pPr>
                        <a:defRPr sz="1400" b="1">
                          <a:solidFill>
                            <a:srgbClr val="FFFFFF"/>
                          </a:solidFill>
                        </a:defRPr>
                      </a:pPr>
                      <a:r>
                        <a:t>Evidence</a:t>
                      </a:r>
                    </a:p>
                  </a:txBody>
                  <a:tcPr>
                    <a:solidFill>
                      <a:srgbClr val="1F4E79"/>
                    </a:solidFill>
                  </a:tcPr>
                </a:tc>
              </a:tr>
              <a:tr h="502920">
                <a:tc>
                  <a:txBody>
                    <a:bodyPr/>
                    <a:lstStyle/>
                    <a:p>
                      <a:pPr>
                        <a:defRPr sz="1400" b="0"/>
                      </a:pPr>
                      <a:r>
                        <a:t>Check-then-act race on HashMap</a:t>
                      </a:r>
                    </a:p>
                  </a:txBody>
                  <a:tcPr>
                    <a:solidFill>
                      <a:srgbClr val="EEF3F9"/>
                    </a:solidFill>
                  </a:tcPr>
                </a:tc>
                <a:tc>
                  <a:txBody>
                    <a:bodyPr/>
                    <a:lstStyle/>
                    <a:p>
                      <a:pPr>
                        <a:defRPr sz="1400" b="0"/>
                      </a:pPr>
                      <a:r>
                        <a:t>getChamberState() L48</a:t>
                      </a:r>
                    </a:p>
                  </a:txBody>
                  <a:tcPr>
                    <a:solidFill>
                      <a:srgbClr val="EEF3F9"/>
                    </a:solidFill>
                  </a:tcPr>
                </a:tc>
                <a:tc>
                  <a:txBody>
                    <a:bodyPr/>
                    <a:lstStyle/>
                    <a:p>
                      <a:pPr>
                        <a:defRPr sz="1400" b="0"/>
                      </a:pPr>
                      <a:r>
                        <a:t>NPE on first run; duplicate states in test</a:t>
                      </a:r>
                    </a:p>
                  </a:txBody>
                  <a:tcPr>
                    <a:solidFill>
                      <a:srgbClr val="EEF3F9"/>
                    </a:solidFill>
                  </a:tcPr>
                </a:tc>
              </a:tr>
              <a:tr h="502920">
                <a:tc>
                  <a:txBody>
                    <a:bodyPr/>
                    <a:lstStyle/>
                    <a:p>
                      <a:pPr>
                        <a:defRPr sz="1400" b="0"/>
                      </a:pPr>
                      <a:r>
                        <a:t>Lost updates</a:t>
                      </a:r>
                    </a:p>
                  </a:txBody>
                  <a:tcPr>
                    <a:solidFill>
                      <a:srgbClr val="FFFFFF"/>
                    </a:solidFill>
                  </a:tcPr>
                </a:tc>
                <a:tc>
                  <a:txBody>
                    <a:bodyPr/>
                    <a:lstStyle/>
                    <a:p>
                      <a:pPr>
                        <a:defRPr sz="1400" b="0"/>
                      </a:pPr>
                      <a:r>
                        <a:t>totalWaterUsage += 2 (4 threads)</a:t>
                      </a:r>
                    </a:p>
                  </a:txBody>
                  <a:tcPr>
                    <a:solidFill>
                      <a:srgbClr val="FFFFFF"/>
                    </a:solidFill>
                  </a:tcPr>
                </a:tc>
                <a:tc>
                  <a:txBody>
                    <a:bodyPr/>
                    <a:lstStyle/>
                    <a:p>
                      <a:pPr>
                        <a:defRPr sz="1400" b="0"/>
                      </a:pPr>
                      <a:r>
                        <a:t>80,000,000 L expected → 11,368,500 L counted</a:t>
                      </a:r>
                    </a:p>
                  </a:txBody>
                  <a:tcPr>
                    <a:solidFill>
                      <a:srgbClr val="FFFFFF"/>
                    </a:solidFill>
                  </a:tcPr>
                </a:tc>
              </a:tr>
              <a:tr h="502920">
                <a:tc>
                  <a:txBody>
                    <a:bodyPr/>
                    <a:lstStyle/>
                    <a:p>
                      <a:pPr>
                        <a:defRPr sz="1400" b="0"/>
                      </a:pPr>
                      <a:r>
                        <a:t>Unsafe ArrayLists, racing counters</a:t>
                      </a:r>
                    </a:p>
                  </a:txBody>
                  <a:tcPr>
                    <a:solidFill>
                      <a:srgbClr val="EEF3F9"/>
                    </a:solidFill>
                  </a:tcPr>
                </a:tc>
                <a:tc>
                  <a:txBody>
                    <a:bodyPr/>
                    <a:lstStyle/>
                    <a:p>
                      <a:pPr>
                        <a:defRPr sz="1400" b="0"/>
                      </a:pPr>
                      <a:r>
                        <a:t>alerts.add, summary.alerts++</a:t>
                      </a:r>
                    </a:p>
                  </a:txBody>
                  <a:tcPr>
                    <a:solidFill>
                      <a:srgbClr val="EEF3F9"/>
                    </a:solidFill>
                  </a:tcPr>
                </a:tc>
                <a:tc>
                  <a:txBody>
                    <a:bodyPr/>
                    <a:lstStyle/>
                    <a:p>
                      <a:pPr>
                        <a:defRPr sz="1400" b="0"/>
                      </a:pPr>
                      <a:r>
                        <a:t>lost alerts / counts</a:t>
                      </a:r>
                    </a:p>
                  </a:txBody>
                  <a:tcPr>
                    <a:solidFill>
                      <a:srgbClr val="EEF3F9"/>
                    </a:solidFill>
                  </a:tcPr>
                </a:tc>
              </a:tr>
              <a:tr h="502920">
                <a:tc>
                  <a:txBody>
                    <a:bodyPr/>
                    <a:lstStyle/>
                    <a:p>
                      <a:pPr>
                        <a:defRPr sz="1400" b="0"/>
                      </a:pPr>
                      <a:r>
                        <a:t>Locks writers never take</a:t>
                      </a:r>
                    </a:p>
                  </a:txBody>
                  <a:tcPr>
                    <a:solidFill>
                      <a:srgbClr val="FFFFFF"/>
                    </a:solidFill>
                  </a:tcPr>
                </a:tc>
                <a:tc>
                  <a:txBody>
                    <a:bodyPr/>
                    <a:lstStyle/>
                    <a:p>
                      <a:pPr>
                        <a:defRPr sz="1400" b="0"/>
                      </a:pPr>
                      <a:r>
                        <a:t>generateDailyReport()</a:t>
                      </a:r>
                    </a:p>
                  </a:txBody>
                  <a:tcPr>
                    <a:solidFill>
                      <a:srgbClr val="FFFFFF"/>
                    </a:solidFill>
                  </a:tcPr>
                </a:tc>
                <a:tc>
                  <a:txBody>
                    <a:bodyPr/>
                    <a:lstStyle/>
                    <a:p>
                      <a:pPr>
                        <a:defRPr sz="1400" b="0"/>
                      </a:pPr>
                      <a:r>
                        <a:t>stale, torn totals</a:t>
                      </a:r>
                    </a:p>
                  </a:txBody>
                  <a:tcPr>
                    <a:solidFill>
                      <a:srgbClr val="FFFFFF"/>
                    </a:solidFill>
                  </a:tcPr>
                </a:tc>
              </a:tr>
              <a:tr h="502920">
                <a:tc>
                  <a:txBody>
                    <a:bodyPr/>
                    <a:lstStyle/>
                    <a:p>
                      <a:pPr>
                        <a:defRPr sz="1400" b="0"/>
                      </a:pPr>
                      <a:r>
                        <a:t>Nested alertLock → reportLock</a:t>
                      </a:r>
                    </a:p>
                  </a:txBody>
                  <a:tcPr>
                    <a:solidFill>
                      <a:srgbClr val="EEF3F9"/>
                    </a:solidFill>
                  </a:tcPr>
                </a:tc>
                <a:tc>
                  <a:txBody>
                    <a:bodyPr/>
                    <a:lstStyle/>
                    <a:p>
                      <a:pPr>
                        <a:defRPr sz="1400" b="0"/>
                      </a:pPr>
                      <a:r>
                        <a:t>L208, L223</a:t>
                      </a:r>
                    </a:p>
                  </a:txBody>
                  <a:tcPr>
                    <a:solidFill>
                      <a:srgbClr val="EEF3F9"/>
                    </a:solidFill>
                  </a:tcPr>
                </a:tc>
                <a:tc>
                  <a:txBody>
                    <a:bodyPr/>
                    <a:lstStyle/>
                    <a:p>
                      <a:pPr>
                        <a:defRPr sz="1400" b="0"/>
                      </a:pPr>
                      <a:r>
                        <a:t>latent lock-ordering deadlock</a:t>
                      </a:r>
                    </a:p>
                  </a:txBody>
                  <a:tcPr>
                    <a:solidFill>
                      <a:srgbClr val="EEF3F9"/>
                    </a:solidFill>
                  </a:tcPr>
                </a:tc>
              </a:tr>
              <a:tr h="502920">
                <a:tc>
                  <a:txBody>
                    <a:bodyPr/>
                    <a:lstStyle/>
                    <a:p>
                      <a:pPr>
                        <a:defRPr sz="1400" b="0"/>
                      </a:pPr>
                      <a:r>
                        <a:t>catch(Exception e){} around wait()</a:t>
                      </a:r>
                    </a:p>
                  </a:txBody>
                  <a:tcPr>
                    <a:solidFill>
                      <a:srgbClr val="FFFFFF"/>
                    </a:solidFill>
                  </a:tcPr>
                </a:tc>
                <a:tc>
                  <a:txBody>
                    <a:bodyPr/>
                    <a:lstStyle/>
                    <a:p>
                      <a:pPr>
                        <a:defRPr sz="1400" b="0"/>
                      </a:pPr>
                      <a:r>
                        <a:t>L134, L258</a:t>
                      </a:r>
                    </a:p>
                  </a:txBody>
                  <a:tcPr>
                    <a:solidFill>
                      <a:srgbClr val="FFFFFF"/>
                    </a:solidFill>
                  </a:tcPr>
                </a:tc>
                <a:tc>
                  <a:txBody>
                    <a:bodyPr/>
                    <a:lstStyle/>
                    <a:p>
                      <a:pPr>
                        <a:defRPr sz="1400" b="0"/>
                      </a:pPr>
                      <a:r>
                        <a:t>producer ignores interrupt → program can hang</a:t>
                      </a:r>
                    </a:p>
                  </a:txBody>
                  <a:tcPr>
                    <a:solidFill>
                      <a:srgbClr val="FFFFFF"/>
                    </a:solidFill>
                  </a:tcPr>
                </a:tc>
              </a:tr>
              <a:tr h="502920">
                <a:tc>
                  <a:txBody>
                    <a:bodyPr/>
                    <a:lstStyle/>
                    <a:p>
                      <a:pPr>
                        <a:defRPr sz="1400" b="0"/>
                      </a:pPr>
                      <a:r>
                        <a:t>Archive &amp; report threads race</a:t>
                      </a:r>
                    </a:p>
                  </a:txBody>
                  <a:tcPr>
                    <a:solidFill>
                      <a:srgbClr val="EEF3F9"/>
                    </a:solidFill>
                  </a:tcPr>
                </a:tc>
                <a:tc>
                  <a:txBody>
                    <a:bodyPr/>
                    <a:lstStyle/>
                    <a:p>
                      <a:pPr>
                        <a:defRPr sz="1400" b="0"/>
                      </a:pPr>
                      <a:r>
                        <a:t>main() L373-389</a:t>
                      </a:r>
                    </a:p>
                  </a:txBody>
                  <a:tcPr>
                    <a:solidFill>
                      <a:srgbClr val="EEF3F9"/>
                    </a:solidFill>
                  </a:tcPr>
                </a:tc>
                <a:tc>
                  <a:txBody>
                    <a:bodyPr/>
                    <a:lstStyle/>
                    <a:p>
                      <a:pPr>
                        <a:defRPr sz="1400" b="0"/>
                      </a:pPr>
                      <a:r>
                        <a:t>'Active Alerts' differs per run</a:t>
                      </a:r>
                    </a:p>
                  </a:txBody>
                  <a:tcPr>
                    <a:solidFill>
                      <a:srgbClr val="EEF3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3 · SOLID refactoring</a:t>
            </a:r>
          </a:p>
        </p:txBody>
      </p:sp>
      <p:sp>
        <p:nvSpPr>
          <p:cNvPr id="3" name="TextBox 2"/>
          <p:cNvSpPr txBox="1"/>
          <p:nvPr/>
        </p:nvSpPr>
        <p:spPr>
          <a:xfrm>
            <a:off x="457200" y="1005840"/>
            <a:ext cx="11247120" cy="457200"/>
          </a:xfrm>
          <a:prstGeom prst="rect">
            <a:avLst/>
          </a:prstGeom>
          <a:noFill/>
        </p:spPr>
        <p:txBody>
          <a:bodyPr wrap="none">
            <a:spAutoFit/>
          </a:bodyPr>
          <a:lstStyle/>
          <a:p>
            <a:pPr>
              <a:defRPr sz="1600" i="1">
                <a:solidFill>
                  <a:srgbClr val="555F6B"/>
                </a:solidFill>
              </a:defRPr>
            </a:pPr>
            <a:r>
              <a:t>1 class, 393 lines  →  14 packages, ~65 classes, all but the composition root under 100 lines</a:t>
            </a:r>
          </a:p>
        </p:txBody>
      </p:sp>
      <p:graphicFrame>
        <p:nvGraphicFramePr>
          <p:cNvPr id="4" name="Table 3"/>
          <p:cNvGraphicFramePr>
            <a:graphicFrameLocks noGrp="1"/>
          </p:cNvGraphicFramePr>
          <p:nvPr/>
        </p:nvGraphicFramePr>
        <p:xfrm>
          <a:off x="548640" y="1645920"/>
          <a:ext cx="11064240" cy="4114800"/>
        </p:xfrm>
        <a:graphic>
          <a:graphicData uri="http://schemas.openxmlformats.org/drawingml/2006/table">
            <a:tbl>
              <a:tblPr firstRow="1" bandRow="1">
                <a:tableStyleId>{5C22544A-7EE6-4342-B048-85BDC9FD1C3A}</a:tableStyleId>
              </a:tblPr>
              <a:tblGrid>
                <a:gridCol w="2926080"/>
                <a:gridCol w="3383280"/>
                <a:gridCol w="4754880"/>
              </a:tblGrid>
              <a:tr h="685800">
                <a:tc>
                  <a:txBody>
                    <a:bodyPr/>
                    <a:lstStyle/>
                    <a:p>
                      <a:pPr>
                        <a:defRPr sz="1500" b="1">
                          <a:solidFill>
                            <a:srgbClr val="FFFFFF"/>
                          </a:solidFill>
                        </a:defRPr>
                      </a:pPr>
                      <a:r>
                        <a:t>Principle</a:t>
                      </a:r>
                    </a:p>
                  </a:txBody>
                  <a:tcPr>
                    <a:solidFill>
                      <a:srgbClr val="1F4E79"/>
                    </a:solidFill>
                  </a:tcPr>
                </a:tc>
                <a:tc>
                  <a:txBody>
                    <a:bodyPr/>
                    <a:lstStyle/>
                    <a:p>
                      <a:pPr>
                        <a:defRPr sz="1500" b="1">
                          <a:solidFill>
                            <a:srgbClr val="FFFFFF"/>
                          </a:solidFill>
                        </a:defRPr>
                      </a:pPr>
                      <a:r>
                        <a:t>Legacy problem</a:t>
                      </a:r>
                    </a:p>
                  </a:txBody>
                  <a:tcPr>
                    <a:solidFill>
                      <a:srgbClr val="1F4E79"/>
                    </a:solidFill>
                  </a:tcPr>
                </a:tc>
                <a:tc>
                  <a:txBody>
                    <a:bodyPr/>
                    <a:lstStyle/>
                    <a:p>
                      <a:pPr>
                        <a:defRPr sz="1500" b="1">
                          <a:solidFill>
                            <a:srgbClr val="FFFFFF"/>
                          </a:solidFill>
                        </a:defRPr>
                      </a:pPr>
                      <a:r>
                        <a:t>What we did</a:t>
                      </a:r>
                    </a:p>
                  </a:txBody>
                  <a:tcPr>
                    <a:solidFill>
                      <a:srgbClr val="1F4E79"/>
                    </a:solidFill>
                  </a:tcPr>
                </a:tc>
              </a:tr>
              <a:tr h="685800">
                <a:tc>
                  <a:txBody>
                    <a:bodyPr/>
                    <a:lstStyle/>
                    <a:p>
                      <a:pPr>
                        <a:defRPr sz="1500" b="0"/>
                      </a:pPr>
                      <a:r>
                        <a:t>S – Single Responsibility</a:t>
                      </a:r>
                    </a:p>
                  </a:txBody>
                  <a:tcPr>
                    <a:solidFill>
                      <a:srgbClr val="EEF3F9"/>
                    </a:solidFill>
                  </a:tcPr>
                </a:tc>
                <a:tc>
                  <a:txBody>
                    <a:bodyPr/>
                    <a:lstStyle/>
                    <a:p>
                      <a:pPr>
                        <a:defRPr sz="1500" b="0"/>
                      </a:pPr>
                      <a:r>
                        <a:t>one class does everything</a:t>
                      </a:r>
                    </a:p>
                  </a:txBody>
                  <a:tcPr>
                    <a:solidFill>
                      <a:srgbClr val="EEF3F9"/>
                    </a:solidFill>
                  </a:tcPr>
                </a:tc>
                <a:tc>
                  <a:txBody>
                    <a:bodyPr/>
                    <a:lstStyle/>
                    <a:p>
                      <a:pPr>
                        <a:defRPr sz="1500" b="0"/>
                      </a:pPr>
                      <a:r>
                        <a:t>ChamberMonitor only evaluates; printer, writer, reports separate</a:t>
                      </a:r>
                    </a:p>
                  </a:txBody>
                  <a:tcPr>
                    <a:solidFill>
                      <a:srgbClr val="EEF3F9"/>
                    </a:solidFill>
                  </a:tcPr>
                </a:tc>
              </a:tr>
              <a:tr h="685800">
                <a:tc>
                  <a:txBody>
                    <a:bodyPr/>
                    <a:lstStyle/>
                    <a:p>
                      <a:pPr>
                        <a:defRPr sz="1500" b="0"/>
                      </a:pPr>
                      <a:r>
                        <a:t>O – Open/Closed</a:t>
                      </a:r>
                    </a:p>
                  </a:txBody>
                  <a:tcPr>
                    <a:solidFill>
                      <a:srgbClr val="FFFFFF"/>
                    </a:solidFill>
                  </a:tcPr>
                </a:tc>
                <a:tc>
                  <a:txBody>
                    <a:bodyPr/>
                    <a:lstStyle/>
                    <a:p>
                      <a:pPr>
                        <a:defRPr sz="1500" b="0"/>
                      </a:pPr>
                      <a:r>
                        <a:t>new crop = edit processSensor()</a:t>
                      </a:r>
                    </a:p>
                  </a:txBody>
                  <a:tcPr>
                    <a:solidFill>
                      <a:srgbClr val="FFFFFF"/>
                    </a:solidFill>
                  </a:tcPr>
                </a:tc>
                <a:tc>
                  <a:txBody>
                    <a:bodyPr/>
                    <a:lstStyle/>
                    <a:p>
                      <a:pPr>
                        <a:defRPr sz="1500" b="0"/>
                      </a:pPr>
                      <a:r>
                        <a:t>crops.properties + CropRegistry; new rule/device/report = new class</a:t>
                      </a:r>
                    </a:p>
                  </a:txBody>
                  <a:tcPr>
                    <a:solidFill>
                      <a:srgbClr val="FFFFFF"/>
                    </a:solidFill>
                  </a:tcPr>
                </a:tc>
              </a:tr>
              <a:tr h="685800">
                <a:tc>
                  <a:txBody>
                    <a:bodyPr/>
                    <a:lstStyle/>
                    <a:p>
                      <a:pPr>
                        <a:defRPr sz="1500" b="0"/>
                      </a:pPr>
                      <a:r>
                        <a:t>L – Liskov</a:t>
                      </a:r>
                    </a:p>
                  </a:txBody>
                  <a:tcPr>
                    <a:solidFill>
                      <a:srgbClr val="EEF3F9"/>
                    </a:solidFill>
                  </a:tcPr>
                </a:tc>
                <a:tc>
                  <a:txBody>
                    <a:bodyPr/>
                    <a:lstStyle/>
                    <a:p>
                      <a:pPr>
                        <a:defRPr sz="1500" b="0"/>
                      </a:pPr>
                      <a:r>
                        <a:t>ControlThread breaks interrupt()</a:t>
                      </a:r>
                    </a:p>
                  </a:txBody>
                  <a:tcPr>
                    <a:solidFill>
                      <a:srgbClr val="EEF3F9"/>
                    </a:solidFill>
                  </a:tcPr>
                </a:tc>
                <a:tc>
                  <a:txBody>
                    <a:bodyPr/>
                    <a:lstStyle/>
                    <a:p>
                      <a:pPr>
                        <a:defRPr sz="1500" b="0"/>
                      </a:pPr>
                      <a:r>
                        <a:t>ChamberTask is a Runnable on an ExecutorService; honours interrupts</a:t>
                      </a:r>
                    </a:p>
                  </a:txBody>
                  <a:tcPr>
                    <a:solidFill>
                      <a:srgbClr val="EEF3F9"/>
                    </a:solidFill>
                  </a:tcPr>
                </a:tc>
              </a:tr>
              <a:tr h="685800">
                <a:tc>
                  <a:txBody>
                    <a:bodyPr/>
                    <a:lstStyle/>
                    <a:p>
                      <a:pPr>
                        <a:defRPr sz="1500" b="0"/>
                      </a:pPr>
                      <a:r>
                        <a:t>I – Interface Segregation</a:t>
                      </a:r>
                    </a:p>
                  </a:txBody>
                  <a:tcPr>
                    <a:solidFill>
                      <a:srgbClr val="FFFFFF"/>
                    </a:solidFill>
                  </a:tcPr>
                </a:tc>
                <a:tc>
                  <a:txBody>
                    <a:bodyPr/>
                    <a:lstStyle/>
                    <a:p>
                      <a:pPr>
                        <a:defRPr sz="1500" b="0"/>
                      </a:pPr>
                      <a:r>
                        <a:t>one fat handleEvent(type, ...)</a:t>
                      </a:r>
                    </a:p>
                  </a:txBody>
                  <a:tcPr>
                    <a:solidFill>
                      <a:srgbClr val="FFFFFF"/>
                    </a:solidFill>
                  </a:tcPr>
                </a:tc>
                <a:tc>
                  <a:txBody>
                    <a:bodyPr/>
                    <a:lstStyle/>
                    <a:p>
                      <a:pPr>
                        <a:defRPr sz="1500" b="0"/>
                      </a:pPr>
                      <a:r>
                        <a:t>AlertRule, Device, AlertListener, DeviceListener, ReportWriter, ...</a:t>
                      </a:r>
                    </a:p>
                  </a:txBody>
                  <a:tcPr>
                    <a:solidFill>
                      <a:srgbClr val="FFFFFF"/>
                    </a:solidFill>
                  </a:tcPr>
                </a:tc>
              </a:tr>
              <a:tr h="685800">
                <a:tc>
                  <a:txBody>
                    <a:bodyPr/>
                    <a:lstStyle/>
                    <a:p>
                      <a:pPr>
                        <a:defRPr sz="1500" b="0"/>
                      </a:pPr>
                      <a:r>
                        <a:t>D – Dependency Inversion</a:t>
                      </a:r>
                    </a:p>
                  </a:txBody>
                  <a:tcPr>
                    <a:solidFill>
                      <a:srgbClr val="EEF3F9"/>
                    </a:solidFill>
                  </a:tcPr>
                </a:tc>
                <a:tc>
                  <a:txBody>
                    <a:bodyPr/>
                    <a:lstStyle/>
                    <a:p>
                      <a:pPr>
                        <a:defRPr sz="1500" b="0"/>
                      </a:pPr>
                      <a:r>
                        <a:t>public static everywhere</a:t>
                      </a:r>
                    </a:p>
                  </a:txBody>
                  <a:tcPr>
                    <a:solidFill>
                      <a:srgbClr val="EEF3F9"/>
                    </a:solidFill>
                  </a:tcPr>
                </a:tc>
                <a:tc>
                  <a:txBody>
                    <a:bodyPr/>
                    <a:lstStyle/>
                    <a:p>
                      <a:pPr>
                        <a:defRPr sz="1500" b="0"/>
                      </a:pPr>
                      <a:r>
                        <a:t>constructor injection; one composition root (FacilityAssembler)</a:t>
                      </a:r>
                    </a:p>
                  </a:txBody>
                  <a:tcPr>
                    <a:solidFill>
                      <a:srgbClr val="EEF3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4 · Final architecture</a:t>
            </a:r>
          </a:p>
        </p:txBody>
      </p:sp>
      <p:pic>
        <p:nvPicPr>
          <p:cNvPr id="3" name="Picture 2" descr="component.png"/>
          <p:cNvPicPr>
            <a:picLocks noChangeAspect="1"/>
          </p:cNvPicPr>
          <p:nvPr/>
        </p:nvPicPr>
        <p:blipFill>
          <a:blip r:embed="rId3"/>
          <a:stretch>
            <a:fillRect/>
          </a:stretch>
        </p:blipFill>
        <p:spPr>
          <a:xfrm>
            <a:off x="2103120" y="1051560"/>
            <a:ext cx="8319243"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5 · Design patterns, each solving a real problem</a:t>
            </a:r>
          </a:p>
        </p:txBody>
      </p:sp>
      <p:graphicFrame>
        <p:nvGraphicFramePr>
          <p:cNvPr id="3" name="Table 2"/>
          <p:cNvGraphicFramePr>
            <a:graphicFrameLocks noGrp="1"/>
          </p:cNvGraphicFramePr>
          <p:nvPr/>
        </p:nvGraphicFramePr>
        <p:xfrm>
          <a:off x="548640" y="1371600"/>
          <a:ext cx="11064240" cy="4480559"/>
        </p:xfrm>
        <a:graphic>
          <a:graphicData uri="http://schemas.openxmlformats.org/drawingml/2006/table">
            <a:tbl>
              <a:tblPr firstRow="1" bandRow="1">
                <a:tableStyleId>{5C22544A-7EE6-4342-B048-85BDC9FD1C3A}</a:tableStyleId>
              </a:tblPr>
              <a:tblGrid>
                <a:gridCol w="2560320"/>
                <a:gridCol w="4206240"/>
                <a:gridCol w="4297680"/>
              </a:tblGrid>
              <a:tr h="640079">
                <a:tc>
                  <a:txBody>
                    <a:bodyPr/>
                    <a:lstStyle/>
                    <a:p>
                      <a:pPr>
                        <a:defRPr sz="1500" b="1">
                          <a:solidFill>
                            <a:srgbClr val="FFFFFF"/>
                          </a:solidFill>
                        </a:defRPr>
                      </a:pPr>
                      <a:r>
                        <a:t>Pattern</a:t>
                      </a:r>
                    </a:p>
                  </a:txBody>
                  <a:tcPr>
                    <a:solidFill>
                      <a:srgbClr val="1F4E79"/>
                    </a:solidFill>
                  </a:tcPr>
                </a:tc>
                <a:tc>
                  <a:txBody>
                    <a:bodyPr/>
                    <a:lstStyle/>
                    <a:p>
                      <a:pPr>
                        <a:defRPr sz="1500" b="1">
                          <a:solidFill>
                            <a:srgbClr val="FFFFFF"/>
                          </a:solidFill>
                        </a:defRPr>
                      </a:pPr>
                      <a:r>
                        <a:t>Where</a:t>
                      </a:r>
                    </a:p>
                  </a:txBody>
                  <a:tcPr>
                    <a:solidFill>
                      <a:srgbClr val="1F4E79"/>
                    </a:solidFill>
                  </a:tcPr>
                </a:tc>
                <a:tc>
                  <a:txBody>
                    <a:bodyPr/>
                    <a:lstStyle/>
                    <a:p>
                      <a:pPr>
                        <a:defRPr sz="1500" b="1">
                          <a:solidFill>
                            <a:srgbClr val="FFFFFF"/>
                          </a:solidFill>
                        </a:defRPr>
                      </a:pPr>
                      <a:r>
                        <a:t>Legacy problem it solves</a:t>
                      </a:r>
                    </a:p>
                  </a:txBody>
                  <a:tcPr>
                    <a:solidFill>
                      <a:srgbClr val="1F4E79"/>
                    </a:solidFill>
                  </a:tcPr>
                </a:tc>
              </a:tr>
              <a:tr h="640079">
                <a:tc>
                  <a:txBody>
                    <a:bodyPr/>
                    <a:lstStyle/>
                    <a:p>
                      <a:pPr>
                        <a:defRPr sz="1500" b="0"/>
                      </a:pPr>
                      <a:r>
                        <a:t>Strategy</a:t>
                      </a:r>
                    </a:p>
                  </a:txBody>
                  <a:tcPr>
                    <a:solidFill>
                      <a:srgbClr val="EEF3F9"/>
                    </a:solidFill>
                  </a:tcPr>
                </a:tc>
                <a:tc>
                  <a:txBody>
                    <a:bodyPr/>
                    <a:lstStyle/>
                    <a:p>
                      <a:pPr>
                        <a:defRPr sz="1500" b="0"/>
                      </a:pPr>
                      <a:r>
                        <a:t>AlertRule (crop, facility, sensor-failure)</a:t>
                      </a:r>
                    </a:p>
                  </a:txBody>
                  <a:tcPr>
                    <a:solidFill>
                      <a:srgbClr val="EEF3F9"/>
                    </a:solidFill>
                  </a:tcPr>
                </a:tc>
                <a:tc>
                  <a:txBody>
                    <a:bodyPr/>
                    <a:lstStyle/>
                    <a:p>
                      <a:pPr>
                        <a:defRPr sz="1500" b="0"/>
                      </a:pPr>
                      <a:r>
                        <a:t>65-line if/else in processSensor()</a:t>
                      </a:r>
                    </a:p>
                  </a:txBody>
                  <a:tcPr>
                    <a:solidFill>
                      <a:srgbClr val="EEF3F9"/>
                    </a:solidFill>
                  </a:tcPr>
                </a:tc>
              </a:tr>
              <a:tr h="640079">
                <a:tc>
                  <a:txBody>
                    <a:bodyPr/>
                    <a:lstStyle/>
                    <a:p>
                      <a:pPr>
                        <a:defRPr sz="1500" b="0"/>
                      </a:pPr>
                      <a:r>
                        <a:t>Observer</a:t>
                      </a:r>
                    </a:p>
                  </a:txBody>
                  <a:tcPr>
                    <a:solidFill>
                      <a:srgbClr val="FFFFFF"/>
                    </a:solidFill>
                  </a:tcPr>
                </a:tc>
                <a:tc>
                  <a:txBody>
                    <a:bodyPr/>
                    <a:lstStyle/>
                    <a:p>
                      <a:pPr>
                        <a:defRPr sz="1500" b="0"/>
                      </a:pPr>
                      <a:r>
                        <a:t>SensorHub, AlertService, DeviceController</a:t>
                      </a:r>
                    </a:p>
                  </a:txBody>
                  <a:tcPr>
                    <a:solidFill>
                      <a:srgbClr val="FFFFFF"/>
                    </a:solidFill>
                  </a:tcPr>
                </a:tc>
                <a:tc>
                  <a:txBody>
                    <a:bodyPr/>
                    <a:lstStyle/>
                    <a:p>
                      <a:pPr>
                        <a:defRPr sz="1500" b="0"/>
                      </a:pPr>
                      <a:r>
                        <a:t>handleEvent() string switch coupling everything</a:t>
                      </a:r>
                    </a:p>
                  </a:txBody>
                  <a:tcPr>
                    <a:solidFill>
                      <a:srgbClr val="FFFFFF"/>
                    </a:solidFill>
                  </a:tcPr>
                </a:tc>
              </a:tr>
              <a:tr h="640079">
                <a:tc>
                  <a:txBody>
                    <a:bodyPr/>
                    <a:lstStyle/>
                    <a:p>
                      <a:pPr>
                        <a:defRPr sz="1500" b="0"/>
                      </a:pPr>
                      <a:r>
                        <a:t>Command</a:t>
                      </a:r>
                    </a:p>
                  </a:txBody>
                  <a:tcPr>
                    <a:solidFill>
                      <a:srgbClr val="EEF3F9"/>
                    </a:solidFill>
                  </a:tcPr>
                </a:tc>
                <a:tc>
                  <a:txBody>
                    <a:bodyPr/>
                    <a:lstStyle/>
                    <a:p>
                      <a:pPr>
                        <a:defRPr sz="1500" b="0"/>
                      </a:pPr>
                      <a:r>
                        <a:t>ActivateDeviceCommand in a BlockingQueue</a:t>
                      </a:r>
                    </a:p>
                  </a:txBody>
                  <a:tcPr>
                    <a:solidFill>
                      <a:srgbClr val="EEF3F9"/>
                    </a:solidFill>
                  </a:tcPr>
                </a:tc>
                <a:tc>
                  <a:txBody>
                    <a:bodyPr/>
                    <a:lstStyle/>
                    <a:p>
                      <a:pPr>
                        <a:defRPr sz="1500" b="0"/>
                      </a:pPr>
                      <a:r>
                        <a:t>"CH1|Cooling Fan" strings split across threads</a:t>
                      </a:r>
                    </a:p>
                  </a:txBody>
                  <a:tcPr>
                    <a:solidFill>
                      <a:srgbClr val="EEF3F9"/>
                    </a:solidFill>
                  </a:tcPr>
                </a:tc>
              </a:tr>
              <a:tr h="640079">
                <a:tc>
                  <a:txBody>
                    <a:bodyPr/>
                    <a:lstStyle/>
                    <a:p>
                      <a:pPr>
                        <a:defRPr sz="1500" b="0"/>
                      </a:pPr>
                      <a:r>
                        <a:t>Template Method</a:t>
                      </a:r>
                    </a:p>
                  </a:txBody>
                  <a:tcPr>
                    <a:solidFill>
                      <a:srgbClr val="FFFFFF"/>
                    </a:solidFill>
                  </a:tcPr>
                </a:tc>
                <a:tc>
                  <a:txBody>
                    <a:bodyPr/>
                    <a:lstStyle/>
                    <a:p>
                      <a:pPr>
                        <a:defRPr sz="1500" b="0"/>
                      </a:pPr>
                      <a:r>
                        <a:t>TemplateReport → 6 reports</a:t>
                      </a:r>
                    </a:p>
                  </a:txBody>
                  <a:tcPr>
                    <a:solidFill>
                      <a:srgbClr val="FFFFFF"/>
                    </a:solidFill>
                  </a:tcPr>
                </a:tc>
                <a:tc>
                  <a:txBody>
                    <a:bodyPr/>
                    <a:lstStyle/>
                    <a:p>
                      <a:pPr>
                        <a:defRPr sz="1500" b="0"/>
                      </a:pPr>
                      <a:r>
                        <a:t>report header/totals written twice</a:t>
                      </a:r>
                    </a:p>
                  </a:txBody>
                  <a:tcPr>
                    <a:solidFill>
                      <a:srgbClr val="FFFFFF"/>
                    </a:solidFill>
                  </a:tcPr>
                </a:tc>
              </a:tr>
              <a:tr h="640079">
                <a:tc>
                  <a:txBody>
                    <a:bodyPr/>
                    <a:lstStyle/>
                    <a:p>
                      <a:pPr>
                        <a:defRPr sz="1500" b="0"/>
                      </a:pPr>
                      <a:r>
                        <a:t>Registry + data config</a:t>
                      </a:r>
                    </a:p>
                  </a:txBody>
                  <a:tcPr>
                    <a:solidFill>
                      <a:srgbClr val="EEF3F9"/>
                    </a:solidFill>
                  </a:tcPr>
                </a:tc>
                <a:tc>
                  <a:txBody>
                    <a:bodyPr/>
                    <a:lstStyle/>
                    <a:p>
                      <a:pPr>
                        <a:defRPr sz="1500" b="0"/>
                      </a:pPr>
                      <a:r>
                        <a:t>CropRegistry, DeviceRegistry, ResponsePlan</a:t>
                      </a:r>
                    </a:p>
                  </a:txBody>
                  <a:tcPr>
                    <a:solidFill>
                      <a:srgbClr val="EEF3F9"/>
                    </a:solidFill>
                  </a:tcPr>
                </a:tc>
                <a:tc>
                  <a:txBody>
                    <a:bodyPr/>
                    <a:lstStyle/>
                    <a:p>
                      <a:pPr>
                        <a:defRPr sz="1500" b="0"/>
                      </a:pPr>
                      <a:r>
                        <a:t>crops &amp; device choices hard-coded</a:t>
                      </a:r>
                    </a:p>
                  </a:txBody>
                  <a:tcPr>
                    <a:solidFill>
                      <a:srgbClr val="EEF3F9"/>
                    </a:solidFill>
                  </a:tcPr>
                </a:tc>
              </a:tr>
              <a:tr h="640085">
                <a:tc>
                  <a:txBody>
                    <a:bodyPr/>
                    <a:lstStyle/>
                    <a:p>
                      <a:pPr>
                        <a:defRPr sz="1500" b="0"/>
                      </a:pPr>
                      <a:r>
                        <a:t>DI / Composition Root</a:t>
                      </a:r>
                    </a:p>
                  </a:txBody>
                  <a:tcPr>
                    <a:solidFill>
                      <a:srgbClr val="FFFFFF"/>
                    </a:solidFill>
                  </a:tcPr>
                </a:tc>
                <a:tc>
                  <a:txBody>
                    <a:bodyPr/>
                    <a:lstStyle/>
                    <a:p>
                      <a:pPr>
                        <a:defRPr sz="1500" b="0"/>
                      </a:pPr>
                      <a:r>
                        <a:t>FacilityAssembler</a:t>
                      </a:r>
                    </a:p>
                  </a:txBody>
                  <a:tcPr>
                    <a:solidFill>
                      <a:srgbClr val="FFFFFF"/>
                    </a:solidFill>
                  </a:tcPr>
                </a:tc>
                <a:tc>
                  <a:txBody>
                    <a:bodyPr/>
                    <a:lstStyle/>
                    <a:p>
                      <a:pPr>
                        <a:defRPr sz="1500" b="0"/>
                      </a:pPr>
                      <a:r>
                        <a:t>public static globals, untestable</a:t>
                      </a:r>
                    </a:p>
                  </a:txBody>
                  <a:tcPr>
                    <a:solidFill>
                      <a:srgbClr val="FFFFFF"/>
                    </a:solidFill>
                  </a:tcPr>
                </a:tc>
              </a:tr>
            </a:tbl>
          </a:graphicData>
        </a:graphic>
      </p:graphicFrame>
      <p:sp>
        <p:nvSpPr>
          <p:cNvPr id="4" name="TextBox 3"/>
          <p:cNvSpPr txBox="1"/>
          <p:nvPr/>
        </p:nvSpPr>
        <p:spPr>
          <a:xfrm>
            <a:off x="548640" y="6035040"/>
            <a:ext cx="10972800" cy="457200"/>
          </a:xfrm>
          <a:prstGeom prst="rect">
            <a:avLst/>
          </a:prstGeom>
          <a:noFill/>
        </p:spPr>
        <p:txBody>
          <a:bodyPr wrap="none">
            <a:spAutoFit/>
          </a:bodyPr>
          <a:lstStyle/>
          <a:p>
            <a:pPr>
              <a:defRPr sz="1500" i="1">
                <a:solidFill>
                  <a:srgbClr val="555F6B"/>
                </a:solidFill>
              </a:defRPr>
            </a:pPr>
            <a:r>
              <a:t>Not used on purpose: Singleton (global state was the problem), Builder, Abstract Factory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6 · Adding a crop = adding data</a:t>
            </a:r>
          </a:p>
        </p:txBody>
      </p:sp>
      <p:sp>
        <p:nvSpPr>
          <p:cNvPr id="3" name="TextBox 2"/>
          <p:cNvSpPr txBox="1"/>
          <p:nvPr/>
        </p:nvSpPr>
        <p:spPr>
          <a:xfrm>
            <a:off x="548640" y="1188720"/>
            <a:ext cx="5486400" cy="365760"/>
          </a:xfrm>
          <a:prstGeom prst="rect">
            <a:avLst/>
          </a:prstGeom>
          <a:noFill/>
        </p:spPr>
        <p:txBody>
          <a:bodyPr wrap="none">
            <a:spAutoFit/>
          </a:bodyPr>
          <a:lstStyle/>
          <a:p>
            <a:pPr>
              <a:defRPr sz="1500" b="1">
                <a:solidFill>
                  <a:srgbClr val="B03A2E"/>
                </a:solidFill>
              </a:defRPr>
            </a:pPr>
            <a:r>
              <a:t>Before: code in processSensor()</a:t>
            </a:r>
          </a:p>
        </p:txBody>
      </p:sp>
      <p:sp>
        <p:nvSpPr>
          <p:cNvPr id="4" name="Rectangle 3"/>
          <p:cNvSpPr/>
          <p:nvPr/>
        </p:nvSpPr>
        <p:spPr>
          <a:xfrm>
            <a:off x="548640" y="1645920"/>
            <a:ext cx="5394960" cy="3291840"/>
          </a:xfrm>
          <a:prstGeom prst="rect">
            <a:avLst/>
          </a:prstGeom>
          <a:solidFill>
            <a:srgbClr val="F5F7FA"/>
          </a:solidFill>
          <a:ln>
            <a:solidFill>
              <a:srgbClr val="B03A2E"/>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defRPr sz="1300">
                <a:solidFill>
                  <a:srgbClr val="1D2530"/>
                </a:solidFill>
                <a:latin typeface="Consolas"/>
              </a:defRPr>
            </a:pPr>
            <a:r>
              <a:t>else if(crop.equals("Lettuce")){</a:t>
            </a:r>
          </a:p>
          <a:p>
            <a:pPr algn="l">
              <a:defRPr sz="1300">
                <a:solidFill>
                  <a:srgbClr val="1D2530"/>
                </a:solidFill>
                <a:latin typeface="Consolas"/>
              </a:defRPr>
            </a:pPr>
            <a:r>
              <a:t>  if(value&gt;21){ handleEvent(...);</a:t>
            </a:r>
          </a:p>
          <a:p>
            <a:pPr algn="l">
              <a:defRPr sz="1300">
                <a:solidFill>
                  <a:srgbClr val="1D2530"/>
                </a:solidFill>
                <a:latin typeface="Consolas"/>
              </a:defRPr>
            </a:pPr>
            <a:r>
              <a:t>    handleEvent(...);</a:t>
            </a:r>
          </a:p>
          <a:p>
            <a:pPr algn="l">
              <a:defRPr sz="1300">
                <a:solidFill>
                  <a:srgbClr val="1D2530"/>
                </a:solidFill>
                <a:latin typeface="Consolas"/>
              </a:defRPr>
            </a:pPr>
            <a:r>
              <a:t>    addControlRequest(chamber,</a:t>
            </a:r>
          </a:p>
          <a:p>
            <a:pPr algn="l">
              <a:defRPr sz="1300">
                <a:solidFill>
                  <a:srgbClr val="1D2530"/>
                </a:solidFill>
                <a:latin typeface="Consolas"/>
              </a:defRPr>
            </a:pPr>
            <a:r>
              <a:t>      "Cooling Fan"); }</a:t>
            </a:r>
          </a:p>
          <a:p>
            <a:pPr algn="l">
              <a:defRPr sz="1300">
                <a:solidFill>
                  <a:srgbClr val="1D2530"/>
                </a:solidFill>
                <a:latin typeface="Consolas"/>
              </a:defRPr>
            </a:pPr>
            <a:r>
              <a:t>  if(value&lt;15){ handleEvent(...);</a:t>
            </a:r>
          </a:p>
          <a:p>
            <a:pPr algn="l">
              <a:defRPr sz="1300">
                <a:solidFill>
                  <a:srgbClr val="1D2530"/>
                </a:solidFill>
                <a:latin typeface="Consolas"/>
              </a:defRPr>
            </a:pPr>
            <a:r>
              <a:t>    handleEvent(...); }</a:t>
            </a:r>
          </a:p>
          <a:p>
            <a:pPr algn="l">
              <a:defRPr sz="1300">
                <a:solidFill>
                  <a:srgbClr val="1D2530"/>
                </a:solidFill>
                <a:latin typeface="Consolas"/>
              </a:defRPr>
            </a:pPr>
            <a:r>
              <a:t>}</a:t>
            </a:r>
          </a:p>
        </p:txBody>
      </p:sp>
      <p:sp>
        <p:nvSpPr>
          <p:cNvPr id="5" name="TextBox 4"/>
          <p:cNvSpPr txBox="1"/>
          <p:nvPr/>
        </p:nvSpPr>
        <p:spPr>
          <a:xfrm>
            <a:off x="6309360" y="1188720"/>
            <a:ext cx="5486400" cy="365760"/>
          </a:xfrm>
          <a:prstGeom prst="rect">
            <a:avLst/>
          </a:prstGeom>
          <a:noFill/>
        </p:spPr>
        <p:txBody>
          <a:bodyPr wrap="none">
            <a:spAutoFit/>
          </a:bodyPr>
          <a:lstStyle/>
          <a:p>
            <a:pPr>
              <a:defRPr sz="1500" b="1">
                <a:solidFill>
                  <a:srgbClr val="2E7D32"/>
                </a:solidFill>
              </a:defRPr>
            </a:pPr>
            <a:r>
              <a:t>After: data in crops.properties</a:t>
            </a:r>
          </a:p>
        </p:txBody>
      </p:sp>
      <p:sp>
        <p:nvSpPr>
          <p:cNvPr id="6" name="Rectangle 5"/>
          <p:cNvSpPr/>
          <p:nvPr/>
        </p:nvSpPr>
        <p:spPr>
          <a:xfrm>
            <a:off x="6309360" y="1645920"/>
            <a:ext cx="5394960" cy="3291840"/>
          </a:xfrm>
          <a:prstGeom prst="rect">
            <a:avLst/>
          </a:prstGeom>
          <a:solidFill>
            <a:srgbClr val="F5F7FA"/>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defRPr sz="1300">
                <a:solidFill>
                  <a:srgbClr val="1D2530"/>
                </a:solidFill>
                <a:latin typeface="Consolas"/>
              </a:defRPr>
            </a:pPr>
            <a:r>
              <a:t>kale.name=Kale</a:t>
            </a:r>
          </a:p>
          <a:p>
            <a:pPr algn="l">
              <a:defRPr sz="1300">
                <a:solidFill>
                  <a:srgbClr val="1D2530"/>
                </a:solidFill>
                <a:latin typeface="Consolas"/>
              </a:defRPr>
            </a:pPr>
            <a:r>
              <a:t>kale.temperature.min=15</a:t>
            </a:r>
          </a:p>
          <a:p>
            <a:pPr algn="l">
              <a:defRPr sz="1300">
                <a:solidFill>
                  <a:srgbClr val="1D2530"/>
                </a:solidFill>
                <a:latin typeface="Consolas"/>
              </a:defRPr>
            </a:pPr>
            <a:r>
              <a:t>kale.temperature.max=24</a:t>
            </a:r>
          </a:p>
          <a:p>
            <a:pPr algn="l">
              <a:defRPr sz="1300">
                <a:solidFill>
                  <a:srgbClr val="1D2530"/>
                </a:solidFill>
                <a:latin typeface="Consolas"/>
              </a:defRPr>
            </a:pPr>
            <a:r>
              <a:t>kale.humidity.min=60</a:t>
            </a:r>
          </a:p>
          <a:p>
            <a:pPr algn="l">
              <a:defRPr sz="1300">
                <a:solidFill>
                  <a:srgbClr val="1D2530"/>
                </a:solidFill>
                <a:latin typeface="Consolas"/>
              </a:defRPr>
            </a:pPr>
            <a:r>
              <a:t>kale.humidity.max=80</a:t>
            </a:r>
          </a:p>
          <a:p>
            <a:pPr algn="l">
              <a:defRPr sz="1300">
                <a:solidFill>
                  <a:srgbClr val="1D2530"/>
                </a:solidFill>
                <a:latin typeface="Consolas"/>
              </a:defRPr>
            </a:pPr>
            <a:r>
              <a:t>kale.soil.min=50</a:t>
            </a:r>
          </a:p>
          <a:p>
            <a:pPr algn="l">
              <a:defRPr sz="1300">
                <a:solidFill>
                  <a:srgbClr val="1D2530"/>
                </a:solidFill>
                <a:latin typeface="Consolas"/>
              </a:defRPr>
            </a:pPr>
            <a:r>
              <a:t>kale.soil.low.water=40</a:t>
            </a:r>
          </a:p>
        </p:txBody>
      </p:sp>
      <p:sp>
        <p:nvSpPr>
          <p:cNvPr id="7" name="TextBox 6"/>
          <p:cNvSpPr txBox="1"/>
          <p:nvPr/>
        </p:nvSpPr>
        <p:spPr>
          <a:xfrm>
            <a:off x="548640" y="5212080"/>
            <a:ext cx="11064240" cy="4937760"/>
          </a:xfrm>
          <a:prstGeom prst="rect">
            <a:avLst/>
          </a:prstGeom>
          <a:noFill/>
        </p:spPr>
        <p:txBody>
          <a:bodyPr wrap="square">
            <a:spAutoFit/>
          </a:bodyPr>
          <a:lstStyle/>
          <a:p>
            <a:pPr>
              <a:spcAft>
                <a:spcPts val="600"/>
              </a:spcAft>
              <a:defRPr sz="1800"/>
            </a:pPr>
            <a:r>
              <a:t>• 4 new crops added with 0 Java changes  ·  java -jar run.jar --crops basil.properties adds one at runtime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7 · Concurrency fixes</a:t>
            </a:r>
          </a:p>
        </p:txBody>
      </p:sp>
      <p:graphicFrame>
        <p:nvGraphicFramePr>
          <p:cNvPr id="3" name="Table 2"/>
          <p:cNvGraphicFramePr>
            <a:graphicFrameLocks noGrp="1"/>
          </p:cNvGraphicFramePr>
          <p:nvPr/>
        </p:nvGraphicFramePr>
        <p:xfrm>
          <a:off x="548640" y="1280160"/>
          <a:ext cx="11064239" cy="3840480"/>
        </p:xfrm>
        <a:graphic>
          <a:graphicData uri="http://schemas.openxmlformats.org/drawingml/2006/table">
            <a:tbl>
              <a:tblPr firstRow="1" bandRow="1">
                <a:tableStyleId>{5C22544A-7EE6-4342-B048-85BDC9FD1C3A}</a:tableStyleId>
              </a:tblPr>
              <a:tblGrid>
                <a:gridCol w="2926080"/>
                <a:gridCol w="4389120"/>
                <a:gridCol w="3749039"/>
              </a:tblGrid>
              <a:tr h="548640">
                <a:tc>
                  <a:txBody>
                    <a:bodyPr/>
                    <a:lstStyle/>
                    <a:p>
                      <a:pPr>
                        <a:defRPr sz="1400" b="1">
                          <a:solidFill>
                            <a:srgbClr val="FFFFFF"/>
                          </a:solidFill>
                        </a:defRPr>
                      </a:pPr>
                      <a:r>
                        <a:t>Bug</a:t>
                      </a:r>
                    </a:p>
                  </a:txBody>
                  <a:tcPr>
                    <a:solidFill>
                      <a:srgbClr val="1F4E79"/>
                    </a:solidFill>
                  </a:tcPr>
                </a:tc>
                <a:tc>
                  <a:txBody>
                    <a:bodyPr/>
                    <a:lstStyle/>
                    <a:p>
                      <a:pPr>
                        <a:defRPr sz="1400" b="1">
                          <a:solidFill>
                            <a:srgbClr val="FFFFFF"/>
                          </a:solidFill>
                        </a:defRPr>
                      </a:pPr>
                      <a:r>
                        <a:t>Fix</a:t>
                      </a:r>
                    </a:p>
                  </a:txBody>
                  <a:tcPr>
                    <a:solidFill>
                      <a:srgbClr val="1F4E79"/>
                    </a:solidFill>
                  </a:tcPr>
                </a:tc>
                <a:tc>
                  <a:txBody>
                    <a:bodyPr/>
                    <a:lstStyle/>
                    <a:p>
                      <a:pPr>
                        <a:defRPr sz="1400" b="1">
                          <a:solidFill>
                            <a:srgbClr val="FFFFFF"/>
                          </a:solidFill>
                        </a:defRPr>
                      </a:pPr>
                      <a:r>
                        <a:t>Test that proves it</a:t>
                      </a:r>
                    </a:p>
                  </a:txBody>
                  <a:tcPr>
                    <a:solidFill>
                      <a:srgbClr val="1F4E79"/>
                    </a:solidFill>
                  </a:tcPr>
                </a:tc>
              </a:tr>
              <a:tr h="548640">
                <a:tc>
                  <a:txBody>
                    <a:bodyPr/>
                    <a:lstStyle/>
                    <a:p>
                      <a:pPr>
                        <a:defRPr sz="1400" b="0"/>
                      </a:pPr>
                      <a:r>
                        <a:t>HashMap check-then-act</a:t>
                      </a:r>
                    </a:p>
                  </a:txBody>
                  <a:tcPr>
                    <a:solidFill>
                      <a:srgbClr val="EEF3F9"/>
                    </a:solidFill>
                  </a:tcPr>
                </a:tc>
                <a:tc>
                  <a:txBody>
                    <a:bodyPr/>
                    <a:lstStyle/>
                    <a:p>
                      <a:pPr>
                        <a:defRPr sz="1400" b="0"/>
                      </a:pPr>
                      <a:r>
                        <a:t>ConcurrentHashMap.computeIfAbsent</a:t>
                      </a:r>
                    </a:p>
                  </a:txBody>
                  <a:tcPr>
                    <a:solidFill>
                      <a:srgbClr val="EEF3F9"/>
                    </a:solidFill>
                  </a:tcPr>
                </a:tc>
                <a:tc>
                  <a:txBody>
                    <a:bodyPr/>
                    <a:lstStyle/>
                    <a:p>
                      <a:pPr>
                        <a:defRPr sz="1400" b="0"/>
                      </a:pPr>
                      <a:r>
                        <a:t>16 threads × 200 rounds → exactly 1 state</a:t>
                      </a:r>
                    </a:p>
                  </a:txBody>
                  <a:tcPr>
                    <a:solidFill>
                      <a:srgbClr val="EEF3F9"/>
                    </a:solidFill>
                  </a:tcPr>
                </a:tc>
              </a:tr>
              <a:tr h="548640">
                <a:tc>
                  <a:txBody>
                    <a:bodyPr/>
                    <a:lstStyle/>
                    <a:p>
                      <a:pPr>
                        <a:defRPr sz="1400" b="0"/>
                      </a:pPr>
                      <a:r>
                        <a:t>Lost updates</a:t>
                      </a:r>
                    </a:p>
                  </a:txBody>
                  <a:tcPr>
                    <a:solidFill>
                      <a:srgbClr val="FFFFFF"/>
                    </a:solidFill>
                  </a:tcPr>
                </a:tc>
                <a:tc>
                  <a:txBody>
                    <a:bodyPr/>
                    <a:lstStyle/>
                    <a:p>
                      <a:pPr>
                        <a:defRPr sz="1400" b="0"/>
                      </a:pPr>
                      <a:r>
                        <a:t>AtomicLong / single AlertService lock</a:t>
                      </a:r>
                    </a:p>
                  </a:txBody>
                  <a:tcPr>
                    <a:solidFill>
                      <a:srgbClr val="FFFFFF"/>
                    </a:solidFill>
                  </a:tcPr>
                </a:tc>
                <a:tc>
                  <a:txBody>
                    <a:bodyPr/>
                    <a:lstStyle/>
                    <a:p>
                      <a:pPr>
                        <a:defRPr sz="1400" b="0"/>
                      </a:pPr>
                      <a:r>
                        <a:t>16 × 5,000 updates → exact totals</a:t>
                      </a:r>
                    </a:p>
                  </a:txBody>
                  <a:tcPr>
                    <a:solidFill>
                      <a:srgbClr val="FFFFFF"/>
                    </a:solidFill>
                  </a:tcPr>
                </a:tc>
              </a:tr>
              <a:tr h="548640">
                <a:tc>
                  <a:txBody>
                    <a:bodyPr/>
                    <a:lstStyle/>
                    <a:p>
                      <a:pPr>
                        <a:defRPr sz="1400" b="0"/>
                      </a:pPr>
                      <a:r>
                        <a:t>Racing read-modify-write</a:t>
                      </a:r>
                    </a:p>
                  </a:txBody>
                  <a:tcPr>
                    <a:solidFill>
                      <a:srgbClr val="EEF3F9"/>
                    </a:solidFill>
                  </a:tcPr>
                </a:tc>
                <a:tc>
                  <a:txBody>
                    <a:bodyPr/>
                    <a:lstStyle/>
                    <a:p>
                      <a:pPr>
                        <a:defRPr sz="1400" b="0"/>
                      </a:pPr>
                      <a:r>
                        <a:t>synchronized ChamberState.adjust(), immutable records</a:t>
                      </a:r>
                    </a:p>
                  </a:txBody>
                  <a:tcPr>
                    <a:solidFill>
                      <a:srgbClr val="EEF3F9"/>
                    </a:solidFill>
                  </a:tcPr>
                </a:tc>
                <a:tc>
                  <a:txBody>
                    <a:bodyPr/>
                    <a:lstStyle/>
                    <a:p>
                      <a:pPr>
                        <a:defRPr sz="1400" b="0"/>
                      </a:pPr>
                      <a:r>
                        <a:t>exact counts under contention</a:t>
                      </a:r>
                    </a:p>
                  </a:txBody>
                  <a:tcPr>
                    <a:solidFill>
                      <a:srgbClr val="EEF3F9"/>
                    </a:solidFill>
                  </a:tcPr>
                </a:tc>
              </a:tr>
              <a:tr h="548640">
                <a:tc>
                  <a:txBody>
                    <a:bodyPr/>
                    <a:lstStyle/>
                    <a:p>
                      <a:pPr>
                        <a:defRPr sz="1400" b="0"/>
                      </a:pPr>
                      <a:r>
                        <a:t>Nested locks (deadlock risk)</a:t>
                      </a:r>
                    </a:p>
                  </a:txBody>
                  <a:tcPr>
                    <a:solidFill>
                      <a:srgbClr val="FFFFFF"/>
                    </a:solidFill>
                  </a:tcPr>
                </a:tc>
                <a:tc>
                  <a:txBody>
                    <a:bodyPr/>
                    <a:lstStyle/>
                    <a:p>
                      <a:pPr>
                        <a:defRPr sz="1400" b="0"/>
                      </a:pPr>
                      <a:r>
                        <a:t>never hold 2 locks; notify outside lock; documented order</a:t>
                      </a:r>
                    </a:p>
                  </a:txBody>
                  <a:tcPr>
                    <a:solidFill>
                      <a:srgbClr val="FFFFFF"/>
                    </a:solidFill>
                  </a:tcPr>
                </a:tc>
                <a:tc>
                  <a:txBody>
                    <a:bodyPr/>
                    <a:lstStyle/>
                    <a:p>
                      <a:pPr>
                        <a:defRPr sz="1400" b="0"/>
                      </a:pPr>
                      <a:r>
                        <a:t>archive ∥ raise ∥ report, timeout guard</a:t>
                      </a:r>
                    </a:p>
                  </a:txBody>
                  <a:tcPr>
                    <a:solidFill>
                      <a:srgbClr val="FFFFFF"/>
                    </a:solidFill>
                  </a:tcPr>
                </a:tc>
              </a:tr>
              <a:tr h="548640">
                <a:tc>
                  <a:txBody>
                    <a:bodyPr/>
                    <a:lstStyle/>
                    <a:p>
                      <a:pPr>
                        <a:defRPr sz="1400" b="0"/>
                      </a:pPr>
                      <a:r>
                        <a:t>Swallowed interrupts / hang</a:t>
                      </a:r>
                    </a:p>
                  </a:txBody>
                  <a:tcPr>
                    <a:solidFill>
                      <a:srgbClr val="EEF3F9"/>
                    </a:solidFill>
                  </a:tcPr>
                </a:tc>
                <a:tc>
                  <a:txBody>
                    <a:bodyPr/>
                    <a:lstStyle/>
                    <a:p>
                      <a:pPr>
                        <a:defRPr sz="1400" b="0"/>
                      </a:pPr>
                      <a:r>
                        <a:t>ArrayBlockingQueue + restore interrupt + poison pill</a:t>
                      </a:r>
                    </a:p>
                  </a:txBody>
                  <a:tcPr>
                    <a:solidFill>
                      <a:srgbClr val="EEF3F9"/>
                    </a:solidFill>
                  </a:tcPr>
                </a:tc>
                <a:tc>
                  <a:txBody>
                    <a:bodyPr/>
                    <a:lstStyle/>
                    <a:p>
                      <a:pPr>
                        <a:defRPr sz="1400" b="0"/>
                      </a:pPr>
                      <a:r>
                        <a:t>blocked producer stops on interrupt</a:t>
                      </a:r>
                    </a:p>
                  </a:txBody>
                  <a:tcPr>
                    <a:solidFill>
                      <a:srgbClr val="EEF3F9"/>
                    </a:solidFill>
                  </a:tcPr>
                </a:tc>
              </a:tr>
              <a:tr h="548640">
                <a:tc>
                  <a:txBody>
                    <a:bodyPr/>
                    <a:lstStyle/>
                    <a:p>
                      <a:pPr>
                        <a:defRPr sz="1400" b="0"/>
                      </a:pPr>
                      <a:r>
                        <a:t>Raw threads, racing end-of-day</a:t>
                      </a:r>
                    </a:p>
                  </a:txBody>
                  <a:tcPr>
                    <a:solidFill>
                      <a:srgbClr val="FFFFFF"/>
                    </a:solidFill>
                  </a:tcPr>
                </a:tc>
                <a:tc>
                  <a:txBody>
                    <a:bodyPr/>
                    <a:lstStyle/>
                    <a:p>
                      <a:pPr>
                        <a:defRPr sz="1400" b="0"/>
                      </a:pPr>
                      <a:r>
                        <a:t>ExecutorService, timeouts, shutdownNow; fixed order</a:t>
                      </a:r>
                    </a:p>
                  </a:txBody>
                  <a:tcPr>
                    <a:solidFill>
                      <a:srgbClr val="FFFFFF"/>
                    </a:solidFill>
                  </a:tcPr>
                </a:tc>
                <a:tc>
                  <a:txBody>
                    <a:bodyPr/>
                    <a:lstStyle/>
                    <a:p>
                      <a:pPr>
                        <a:defRPr sz="1400" b="0"/>
                      </a:pPr>
                      <a:r>
                        <a:t>8 chambers ×5 runs: totals add up</a:t>
                      </a:r>
                    </a:p>
                  </a:txBody>
                  <a:tcPr>
                    <a:solidFill>
                      <a:srgbClr val="FFFFFF"/>
                    </a:solidFill>
                  </a:tcPr>
                </a:tc>
              </a:tr>
            </a:tbl>
          </a:graphicData>
        </a:graphic>
      </p:graphicFrame>
      <p:sp>
        <p:nvSpPr>
          <p:cNvPr id="4" name="TextBox 3"/>
          <p:cNvSpPr txBox="1"/>
          <p:nvPr/>
        </p:nvSpPr>
        <p:spPr>
          <a:xfrm>
            <a:off x="548640" y="5669280"/>
            <a:ext cx="10972800" cy="822960"/>
          </a:xfrm>
          <a:prstGeom prst="rect">
            <a:avLst/>
          </a:prstGeom>
          <a:noFill/>
        </p:spPr>
        <p:txBody>
          <a:bodyPr wrap="none">
            <a:spAutoFit/>
          </a:bodyPr>
          <a:lstStyle/>
          <a:p>
            <a:pPr>
              <a:defRPr sz="1600" b="1">
                <a:solidFill>
                  <a:srgbClr val="1F4E79"/>
                </a:solidFill>
              </a:defRPr>
            </a:pPr>
            <a:r>
              <a:t>Lock order (if ever nested): ChamberState → ChamberSummary → AlertService → ReportLog   ·   today: never nested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8 · Evidence: maintainable, extensible, reliable</a:t>
            </a:r>
          </a:p>
        </p:txBody>
      </p:sp>
      <p:graphicFrame>
        <p:nvGraphicFramePr>
          <p:cNvPr id="3" name="Table 2"/>
          <p:cNvGraphicFramePr>
            <a:graphicFrameLocks noGrp="1"/>
          </p:cNvGraphicFramePr>
          <p:nvPr/>
        </p:nvGraphicFramePr>
        <p:xfrm>
          <a:off x="548640" y="1371600"/>
          <a:ext cx="11064240" cy="4389120"/>
        </p:xfrm>
        <a:graphic>
          <a:graphicData uri="http://schemas.openxmlformats.org/drawingml/2006/table">
            <a:tbl>
              <a:tblPr firstRow="1" bandRow="1">
                <a:tableStyleId>{5C22544A-7EE6-4342-B048-85BDC9FD1C3A}</a:tableStyleId>
              </a:tblPr>
              <a:tblGrid>
                <a:gridCol w="2560320"/>
                <a:gridCol w="8503920"/>
              </a:tblGrid>
              <a:tr h="731520">
                <a:tc>
                  <a:txBody>
                    <a:bodyPr/>
                    <a:lstStyle/>
                    <a:p>
                      <a:pPr>
                        <a:defRPr sz="1600" b="1">
                          <a:solidFill>
                            <a:srgbClr val="FFFFFF"/>
                          </a:solidFill>
                        </a:defRPr>
                      </a:pPr>
                      <a:r>
                        <a:t>Quality</a:t>
                      </a:r>
                    </a:p>
                  </a:txBody>
                  <a:tcPr>
                    <a:solidFill>
                      <a:srgbClr val="1F4E79"/>
                    </a:solidFill>
                  </a:tcPr>
                </a:tc>
                <a:tc>
                  <a:txBody>
                    <a:bodyPr/>
                    <a:lstStyle/>
                    <a:p>
                      <a:pPr>
                        <a:defRPr sz="1600" b="1">
                          <a:solidFill>
                            <a:srgbClr val="FFFFFF"/>
                          </a:solidFill>
                        </a:defRPr>
                      </a:pPr>
                      <a:r>
                        <a:t>Evidence</a:t>
                      </a:r>
                    </a:p>
                  </a:txBody>
                  <a:tcPr>
                    <a:solidFill>
                      <a:srgbClr val="1F4E79"/>
                    </a:solidFill>
                  </a:tcPr>
                </a:tc>
              </a:tr>
              <a:tr h="731520">
                <a:tc>
                  <a:txBody>
                    <a:bodyPr/>
                    <a:lstStyle/>
                    <a:p>
                      <a:pPr>
                        <a:defRPr sz="1600" b="0"/>
                      </a:pPr>
                      <a:r>
                        <a:t>Behaviour preserved</a:t>
                      </a:r>
                    </a:p>
                  </a:txBody>
                  <a:tcPr>
                    <a:solidFill>
                      <a:srgbClr val="EEF3F9"/>
                    </a:solidFill>
                  </a:tcPr>
                </a:tc>
                <a:tc>
                  <a:txBody>
                    <a:bodyPr/>
                    <a:lstStyle/>
                    <a:p>
                      <a:pPr>
                        <a:defRPr sz="1600" b="0"/>
                      </a:pPr>
                      <a:r>
                        <a:t>Golden tests: console + sensor log + report identical to legacy (seeded + boundary runs)</a:t>
                      </a:r>
                    </a:p>
                  </a:txBody>
                  <a:tcPr>
                    <a:solidFill>
                      <a:srgbClr val="EEF3F9"/>
                    </a:solidFill>
                  </a:tcPr>
                </a:tc>
              </a:tr>
              <a:tr h="731520">
                <a:tc>
                  <a:txBody>
                    <a:bodyPr/>
                    <a:lstStyle/>
                    <a:p>
                      <a:pPr>
                        <a:defRPr sz="1600" b="0"/>
                      </a:pPr>
                      <a:r>
                        <a:t>Reliability</a:t>
                      </a:r>
                    </a:p>
                  </a:txBody>
                  <a:tcPr>
                    <a:solidFill>
                      <a:srgbClr val="FFFFFF"/>
                    </a:solidFill>
                  </a:tcPr>
                </a:tc>
                <a:tc>
                  <a:txBody>
                    <a:bodyPr/>
                    <a:lstStyle/>
                    <a:p>
                      <a:pPr>
                        <a:defRPr sz="1600" b="0"/>
                      </a:pPr>
                      <a:r>
                        <a:t>Stress tests (16 threads), deadlock-timeout test, 8-chamber concurrent run ×5</a:t>
                      </a:r>
                    </a:p>
                  </a:txBody>
                  <a:tcPr>
                    <a:solidFill>
                      <a:srgbClr val="FFFFFF"/>
                    </a:solidFill>
                  </a:tcPr>
                </a:tc>
              </a:tr>
              <a:tr h="731520">
                <a:tc>
                  <a:txBody>
                    <a:bodyPr/>
                    <a:lstStyle/>
                    <a:p>
                      <a:pPr>
                        <a:defRPr sz="1600" b="0"/>
                      </a:pPr>
                      <a:r>
                        <a:t>Extensibility</a:t>
                      </a:r>
                    </a:p>
                  </a:txBody>
                  <a:tcPr>
                    <a:solidFill>
                      <a:srgbClr val="EEF3F9"/>
                    </a:solidFill>
                  </a:tcPr>
                </a:tc>
                <a:tc>
                  <a:txBody>
                    <a:bodyPr/>
                    <a:lstStyle/>
                    <a:p>
                      <a:pPr>
                        <a:defRPr sz="1600" b="0"/>
                      </a:pPr>
                      <a:r>
                        <a:t>4 new crops, 3 new devices, 4 new reports, sensor-failure alert: no edits to existing classes</a:t>
                      </a:r>
                    </a:p>
                  </a:txBody>
                  <a:tcPr>
                    <a:solidFill>
                      <a:srgbClr val="EEF3F9"/>
                    </a:solidFill>
                  </a:tcPr>
                </a:tc>
              </a:tr>
              <a:tr h="731520">
                <a:tc>
                  <a:txBody>
                    <a:bodyPr/>
                    <a:lstStyle/>
                    <a:p>
                      <a:pPr>
                        <a:defRPr sz="1600" b="0"/>
                      </a:pPr>
                      <a:r>
                        <a:t>Maintainability</a:t>
                      </a:r>
                    </a:p>
                  </a:txBody>
                  <a:tcPr>
                    <a:solidFill>
                      <a:srgbClr val="FFFFFF"/>
                    </a:solidFill>
                  </a:tcPr>
                </a:tc>
                <a:tc>
                  <a:txBody>
                    <a:bodyPr/>
                    <a:lstStyle/>
                    <a:p>
                      <a:pPr>
                        <a:defRPr sz="1600" b="0"/>
                      </a:pPr>
                      <a:r>
                        <a:t>~65 classes, each with one job; one composition root; --seed/--sequential for reproducible bugs</a:t>
                      </a:r>
                    </a:p>
                  </a:txBody>
                  <a:tcPr>
                    <a:solidFill>
                      <a:srgbClr val="FFFFFF"/>
                    </a:solidFill>
                  </a:tcPr>
                </a:tc>
              </a:tr>
              <a:tr h="731520">
                <a:tc>
                  <a:txBody>
                    <a:bodyPr/>
                    <a:lstStyle/>
                    <a:p>
                      <a:pPr>
                        <a:defRPr sz="1600" b="0"/>
                      </a:pPr>
                      <a:r>
                        <a:t>Build</a:t>
                      </a:r>
                    </a:p>
                  </a:txBody>
                  <a:tcPr>
                    <a:solidFill>
                      <a:srgbClr val="EEF3F9"/>
                    </a:solidFill>
                  </a:tcPr>
                </a:tc>
                <a:tc>
                  <a:txBody>
                    <a:bodyPr/>
                    <a:lstStyle/>
                    <a:p>
                      <a:pPr>
                        <a:defRPr sz="1600" b="0"/>
                      </a:pPr>
                      <a:r>
                        <a:t>mvn clean package → 49 tests green → run.jar (java -jar run.jar, Java 25)</a:t>
                      </a:r>
                    </a:p>
                  </a:txBody>
                  <a:tcPr>
                    <a:solidFill>
                      <a:srgbClr val="EEF3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Live demo (2 min)</a:t>
            </a:r>
          </a:p>
        </p:txBody>
      </p:sp>
      <p:sp>
        <p:nvSpPr>
          <p:cNvPr id="3" name="TextBox 2"/>
          <p:cNvSpPr txBox="1"/>
          <p:nvPr/>
        </p:nvSpPr>
        <p:spPr>
          <a:xfrm>
            <a:off x="548640" y="1554480"/>
            <a:ext cx="11064240" cy="4937760"/>
          </a:xfrm>
          <a:prstGeom prst="rect">
            <a:avLst/>
          </a:prstGeom>
          <a:noFill/>
        </p:spPr>
        <p:txBody>
          <a:bodyPr wrap="square">
            <a:spAutoFit/>
          </a:bodyPr>
          <a:lstStyle/>
          <a:p>
            <a:pPr>
              <a:spcAft>
                <a:spcPts val="600"/>
              </a:spcAft>
              <a:defRPr sz="2000"/>
            </a:pPr>
            <a:r>
              <a:t>• java -jar run.jar  →  same output format as the legacy program</a:t>
            </a:r>
          </a:p>
          <a:p>
            <a:pPr>
              <a:spcAft>
                <a:spcPts val="600"/>
              </a:spcAft>
              <a:defRPr sz="2000"/>
            </a:pPr>
            <a:r>
              <a:t>• java -jar run.jar --list-crops  →  Kale, Bell Pepper, Bok Choy, Eggplant</a:t>
            </a:r>
          </a:p>
          <a:p>
            <a:pPr>
              <a:spcAft>
                <a:spcPts val="600"/>
              </a:spcAft>
              <a:defRPr sz="2000"/>
            </a:pPr>
            <a:r>
              <a:t>• java -jar run.jar --chambers demo/chambers.properties --seed 7 --sequential</a:t>
            </a:r>
          </a:p>
          <a:p>
            <a:pPr>
              <a:spcAft>
                <a:spcPts val="600"/>
              </a:spcAft>
              <a:defRPr sz="2000"/>
            </a:pPr>
            <a:r>
              <a:t>• java -jar run.jar --crops demo/basil.properties --chambers demo/basil-chamber.properties</a:t>
            </a:r>
          </a:p>
          <a:p>
            <a:pPr>
              <a:spcAft>
                <a:spcPts val="600"/>
              </a:spcAft>
              <a:defRPr sz="2000"/>
            </a:pPr>
            <a:r>
              <a:t>• mvn -q test -Dtest=LegacyConcurrencyDemoTest,ThreadSafetyStressTest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a:lstStyle/>
          <a:p>
            <a:pPr algn="ctr">
              <a:defRPr sz="3000" b="1">
                <a:solidFill>
                  <a:srgbClr val="FFFFFF"/>
                </a:solidFill>
              </a:defRPr>
            </a:pPr>
            <a:r>
              <a:t>Summary</a:t>
            </a:r>
          </a:p>
        </p:txBody>
      </p:sp>
      <p:sp>
        <p:nvSpPr>
          <p:cNvPr id="3" name="TextBox 2"/>
          <p:cNvSpPr txBox="1"/>
          <p:nvPr/>
        </p:nvSpPr>
        <p:spPr>
          <a:xfrm>
            <a:off x="548640" y="1554480"/>
            <a:ext cx="11064240" cy="4937760"/>
          </a:xfrm>
          <a:prstGeom prst="rect">
            <a:avLst/>
          </a:prstGeom>
          <a:noFill/>
        </p:spPr>
        <p:txBody>
          <a:bodyPr wrap="square">
            <a:spAutoFit/>
          </a:bodyPr>
          <a:lstStyle/>
          <a:p>
            <a:pPr>
              <a:spcAft>
                <a:spcPts val="600"/>
              </a:spcAft>
              <a:defRPr sz="2200"/>
            </a:pPr>
            <a:r>
              <a:t>• Behaviour preserved, proven byte-for-byte against the legacy output</a:t>
            </a:r>
          </a:p>
          <a:p>
            <a:pPr>
              <a:spcAft>
                <a:spcPts val="600"/>
              </a:spcAft>
              <a:defRPr sz="2200"/>
            </a:pPr>
            <a:r>
              <a:t>• God class → 14 cohesive packages; SOLID applied with concrete before/after</a:t>
            </a:r>
          </a:p>
          <a:p>
            <a:pPr>
              <a:spcAft>
                <a:spcPts val="600"/>
              </a:spcAft>
              <a:defRPr sz="2200"/>
            </a:pPr>
            <a:r>
              <a:t>• Patterns only where they fix a real problem: Strategy, Observer, Command, Template Method, Registry, DI</a:t>
            </a:r>
          </a:p>
          <a:p>
            <a:pPr>
              <a:spcAft>
                <a:spcPts val="600"/>
              </a:spcAft>
              <a:defRPr sz="2200"/>
            </a:pPr>
            <a:r>
              <a:t>• Crops are data: add or remove a crop with no code change</a:t>
            </a:r>
          </a:p>
          <a:p>
            <a:pPr>
              <a:spcAft>
                <a:spcPts val="600"/>
              </a:spcAft>
              <a:defRPr sz="2200"/>
            </a:pPr>
            <a:r>
              <a:t>• 12 concurrency issues identified; races, hangs and deadlock risk fixed and tested</a:t>
            </a:r>
          </a:p>
          <a:p>
            <a:pPr>
              <a:spcAft>
                <a:spcPts val="600"/>
              </a:spcAft>
              <a:defRPr sz="2200"/>
            </a:pPr>
            <a:r>
              <a:t>•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