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58e0e8df443ad" /><Relationship Type="http://schemas.openxmlformats.org/officeDocument/2006/relationships/extended-properties" Target="/docProps/app.xml" Id="Rd5831781c31a4741" /><Relationship Type="http://schemas.openxmlformats.org/officeDocument/2006/relationships/officeDocument" Target="/ppt/presentation.xml" Id="R32313df385ba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d5a06d0384371"/>
  </p:sldMasterIdLst>
  <p:notesMasterIdLst>
    <p:notesMasterId xmlns:r="http://schemas.openxmlformats.org/officeDocument/2006/relationships" r:id="Re67b4b27c70d468e"/>
  </p:notesMasterIdLst>
  <p:sldIdLst>
    <p:sldId xmlns:r="http://schemas.openxmlformats.org/officeDocument/2006/relationships" id="256" r:id="Re9764071d2d44113"/>
    <p:sldId xmlns:r="http://schemas.openxmlformats.org/officeDocument/2006/relationships" id="257" r:id="Rb2b864293a394919"/>
    <p:sldId xmlns:r="http://schemas.openxmlformats.org/officeDocument/2006/relationships" id="258" r:id="R86fcad6cf91c40cc"/>
    <p:sldId xmlns:r="http://schemas.openxmlformats.org/officeDocument/2006/relationships" id="259" r:id="Rc5a9d14631d34b25"/>
    <p:sldId xmlns:r="http://schemas.openxmlformats.org/officeDocument/2006/relationships" id="260" r:id="R9e17d26df7c644ad"/>
    <p:sldId xmlns:r="http://schemas.openxmlformats.org/officeDocument/2006/relationships" id="261" r:id="R25f017c0120747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2afc7cc444cfe" /><Relationship Type="http://schemas.openxmlformats.org/officeDocument/2006/relationships/slideMaster" Target="/ppt/slideMasters/slideMaster1.xml" Id="R4dad5a06d0384371" /><Relationship Type="http://schemas.openxmlformats.org/officeDocument/2006/relationships/notesMaster" Target="/ppt/notesMasters/notesMaster1.xml" Id="Re67b4b27c70d468e" /><Relationship Type="http://schemas.openxmlformats.org/officeDocument/2006/relationships/presProps" Target="/ppt/presProps.xml" Id="R940f81ada9aa48c8" /><Relationship Type="http://schemas.openxmlformats.org/officeDocument/2006/relationships/tableStyles" Target="/ppt/tableStyles.xml" Id="R6c8bdef1b8114b39" /><Relationship Type="http://schemas.openxmlformats.org/officeDocument/2006/relationships/slide" Target="/ppt/slides/slide1.xml" Id="Re9764071d2d44113" /><Relationship Type="http://schemas.openxmlformats.org/officeDocument/2006/relationships/slide" Target="/ppt/slides/slide2.xml" Id="Rb2b864293a394919" /><Relationship Type="http://schemas.openxmlformats.org/officeDocument/2006/relationships/slide" Target="/ppt/slides/slide3.xml" Id="R86fcad6cf91c40cc" /><Relationship Type="http://schemas.openxmlformats.org/officeDocument/2006/relationships/slide" Target="/ppt/slides/slide4.xml" Id="Rc5a9d14631d34b25" /><Relationship Type="http://schemas.openxmlformats.org/officeDocument/2006/relationships/slide" Target="/ppt/slides/slide5.xml" Id="R9e17d26df7c644ad" /><Relationship Type="http://schemas.openxmlformats.org/officeDocument/2006/relationships/slide" Target="/ppt/slides/slide6.xml" Id="R25f017c01207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dafca8ed2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83ba1d12e479b" /><Relationship Type="http://schemas.openxmlformats.org/officeDocument/2006/relationships/notesMaster" Target="/ppt/notesMasters/notesMaster1.xml" Id="R95155a26288e4a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e0ca5e6ae9414b" /><Relationship Type="http://schemas.openxmlformats.org/officeDocument/2006/relationships/notesMaster" Target="/ppt/notesMasters/notesMaster1.xml" Id="R462bdd3a5ae8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92ca4cdcf44507" /><Relationship Type="http://schemas.openxmlformats.org/officeDocument/2006/relationships/notesMaster" Target="/ppt/notesMasters/notesMaster1.xml" Id="R00b3f628b7e745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ee12a6a6d4c6c" /><Relationship Type="http://schemas.openxmlformats.org/officeDocument/2006/relationships/notesMaster" Target="/ppt/notesMasters/notesMaster1.xml" Id="Re03bfb7f931340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25c1b78584a58" /><Relationship Type="http://schemas.openxmlformats.org/officeDocument/2006/relationships/notesMaster" Target="/ppt/notesMasters/notesMaster1.xml" Id="R06347686331d4b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57b28fc834874" /><Relationship Type="http://schemas.openxmlformats.org/officeDocument/2006/relationships/notesMaster" Target="/ppt/notesMasters/notesMaster1.xml" Id="R0611f7edcdc7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seconds. Group3. We continued the existing GPT refactor, retained the original behavior oracle and repaired concrete reporting risks. Explain five sensors/four original chambers, then introduce the two-minute crop/concurrency demo after these six slides. Source: docs/technical-report.md; original a2ed2ed3266e1f676c0528515b52c1a33f2fabc8.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Show concrete legacy examples: integer += and ArrayList mutation from multiple chamber threads; HashMap check-then-put; device/sensor read-modify-write; swallowed interruption. Both report methods lock alertLock then reportLock: do not claim an observed AB-BA deadlock. The consumer-failure/full-queue wait is the real liveness hazard. Source: original SVFRMS lines48-60,73-86,131-139,145-203,207-240.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seconds. Describe Observer for logging/evaluation, Strategy/Registry for crop policy and Command for queued controls. One captured profile per reading. CAS updates are pure and replace complete immutable values. A short alert monitor protects composite alert state. Report/file storage are separate from state locks. Source: docs/diagrams/component.svg and current source packages.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 seconds. Admission closes before stop; track admitted/completed work through output; preserve first failure; cancel sibling producers; test the real production JVM hook. Explain two final fixes: publish a closed sibling file to avoid hybrid reports; group report/archive presentation with a separate lock. Do not hold state locks during callbacks, file I/O or joins. Sources: ActuatorExecutionService, SVFRMS hook, FileReportStorageAdapter, DailyReportService and their regression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Live demo registers Kale with illustrative Tomato-equivalent values, processes CH5, drains controls and removes Kale. A later temperature reading has no crop alert, while global light/nutrient fallback remains. Final result3 alerts/3 actions/10energy. No default profile changes or evaluator edits. Four additional names and in-flight replacement/removal are tested. Source: CropExtensionDemo, FeatureExtensionCropTest.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seconds. State measured test/coverage results, including20 repetitions of critical schedules and frozen-original comparison. Four donor baselines were reverified; Astra missing JAR naming was recorded as a failure. All inherited branches remain in the denominator;100% applies to changed decisions, not every possible thread schedule. Explain user-directed DOCX format and preserved-scope mismatches; names and human rehearsal are deferred. Then switch to the two-minute demo. Sources: docs/finalization/verification-data.json, coverage-summary.json, branch-baseline-results.json and constraint-matrix.md.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f6700a9654d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4e90c4b7549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4a159145348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efe573e0248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ac5dbc3754c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07710670c43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807CBC-813E-4F20-B6D3-C9599C737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A6D26D-6447-49F6-A508-649F7D3C08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5430D1-2CE0-4F20-8A75-D30BDD27A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76F067-D02F-413D-92BE-4C57660CA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FA6588-0553-4CC1-BE38-F9AA97C0C4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6BD865-682C-46B1-A6B4-A5A779876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719876-F0D0-4B19-8AF3-49D2292476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F6204C-F0B5-4EFC-BECB-B7DB0C9438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308764-565E-44E6-838E-8FF74AAA1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C8E04-3842-4E1D-A395-EEAEE0272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a34cdc3384c70" /><Relationship Type="http://schemas.openxmlformats.org/officeDocument/2006/relationships/slideLayout" Target="/ppt/slideLayouts/slideLayout1.xml" Id="R31a3c83c3d2040d6" /><Relationship Type="http://schemas.openxmlformats.org/officeDocument/2006/relationships/slideLayout" Target="/ppt/slideLayouts/slideLayout2.xml" Id="R9a60be6779944f1f" /><Relationship Type="http://schemas.openxmlformats.org/officeDocument/2006/relationships/slideLayout" Target="/ppt/slideLayouts/slideLayout3.xml" Id="Rfeed265a27ce4e7e" /><Relationship Type="http://schemas.openxmlformats.org/officeDocument/2006/relationships/slideLayout" Target="/ppt/slideLayouts/slideLayout4.xml" Id="R2ba55bcb80334a05" /><Relationship Type="http://schemas.openxmlformats.org/officeDocument/2006/relationships/slideLayout" Target="/ppt/slideLayouts/slideLayout5.xml" Id="Reefc14468dda4649" /><Relationship Type="http://schemas.openxmlformats.org/officeDocument/2006/relationships/slideLayout" Target="/ppt/slideLayouts/slideLayout6.xml" Id="Re3d7eb2ac6ac4e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3c83c3d2040d6"/>
    <p:sldLayoutId xmlns:r="http://schemas.openxmlformats.org/officeDocument/2006/relationships" id="2147483650" r:id="R9a60be6779944f1f"/>
    <p:sldLayoutId xmlns:r="http://schemas.openxmlformats.org/officeDocument/2006/relationships" id="2147483651" r:id="Rfeed265a27ce4e7e"/>
    <p:sldLayoutId xmlns:r="http://schemas.openxmlformats.org/officeDocument/2006/relationships" id="2147483652" r:id="R2ba55bcb80334a05"/>
    <p:sldLayoutId xmlns:r="http://schemas.openxmlformats.org/officeDocument/2006/relationships" id="2147483653" r:id="Reefc14468dda4649"/>
    <p:sldLayoutId xmlns:r="http://schemas.openxmlformats.org/officeDocument/2006/relationships" id="2147483654" r:id="Re3d7eb2ac6ac4e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7208e67534b65" /><Relationship Type="http://schemas.openxmlformats.org/officeDocument/2006/relationships/notesSlide" Target="/ppt/notesSlides/notesSlide1.xml" Id="R85b9c970c6d6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252ba960747e4" /><Relationship Type="http://schemas.openxmlformats.org/officeDocument/2006/relationships/notesSlide" Target="/ppt/notesSlides/notesSlide2.xml" Id="Rdb02233a2c5f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11857549e400d" /><Relationship Type="http://schemas.openxmlformats.org/officeDocument/2006/relationships/notesSlide" Target="/ppt/notesSlides/notesSlide3.xml" Id="R750f533833ed46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b185cfb4f4d17" /><Relationship Type="http://schemas.openxmlformats.org/officeDocument/2006/relationships/notesSlide" Target="/ppt/notesSlides/notesSlide4.xml" Id="Rf15a40112ea649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436c87bd44a87" /><Relationship Type="http://schemas.openxmlformats.org/officeDocument/2006/relationships/notesSlide" Target="/ppt/notesSlides/notesSlide5.xml" Id="Rfcf35147ffe3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10ed370f54923" /><Relationship Type="http://schemas.openxmlformats.org/officeDocument/2006/relationships/notesSlide" Target="/ppt/notesSlides/notesSlide6.xml" Id="Ra9043c26faab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D8890-9DC6-4219-866A-49C750ED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Preserving SVFRMS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83753-1A22-47FA-B41A-AC41FFEF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Group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E69A-2DBC-4A8C-A667-3FDEF60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Java 25  |  Maven  |  One authoritative service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FD050-2594-443D-8997-2E05693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Legacy behavior, dynamic crops and verifiable delivery</a:t>
            </a:r>
          </a:p>
        </p:txBody>
      </p:sp>
    </p:spTree>
    <p:extLst>
      <p:ext uri="{BB962C8B-B14F-4D97-AF65-F5344CB8AC3E}">
        <p14:creationId xmlns:p14="http://schemas.microsoft.com/office/powerpoint/2010/main" val="1199395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9BC32-5A34-4E14-95EF-7BD0D59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The original risks were shared state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15BEB-3B43-4856-9A8D-B2EB77A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Lost updates and competing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B986B-2DC9-4EE0-95E1-C58E7F6B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Shared counters, lists and chamber fields had no consistent owner.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B5212-5B80-42CA-A125-709E3C1D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Queue liveness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8473E-F25B-4765-A573-3F996EB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 failed consumer can strand blocked producers; ignored interrupts prevent cancellation.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66040-4FF3-445D-8D1E-B642031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Preservation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761AF-E929-4D02-8864-9244491C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Keep asymmetric rules, charges, controls, logs and report formats.</a:t>
            </a:r>
          </a:p>
        </p:txBody>
      </p:sp>
    </p:spTree>
    <p:extLst>
      <p:ext uri="{BB962C8B-B14F-4D97-AF65-F5344CB8AC3E}">
        <p14:creationId xmlns:p14="http://schemas.microsoft.com/office/powerpoint/2010/main" val="436599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D0AFA-2653-45C1-B519-F098BDD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One reading follows focused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CD9E8-3EC3-4410-94DD-30FC41B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19050">
            <a:solidFill>
              <a:srgbClr val="4962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Sensors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4B6A3-4B83-4DDF-B658-A0CFB4BA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â†’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A20FD-C2A3-43C8-9DEF-C858931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19050">
            <a:solidFill>
              <a:srgbClr val="4962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D136-8C7A-484D-B7DC-CCE837D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241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â†’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F9DDC-BA5D-4A4F-AC44-3DFAB5A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19050">
            <a:solidFill>
              <a:srgbClr val="4962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A48E7-F923-4C2C-938B-729A0BE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â†’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23D6C-AFEE-4965-89F9-D92D5F4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0"/>
          </a:solidFill>
          <a:ln xmlns:a="http://schemas.openxmlformats.org/drawingml/2006/main" w="19050">
            <a:solidFill>
              <a:srgbClr val="49625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Control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E432F-49D9-4381-A2D9-5F3D10B8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Registry supplies policy; observers retain logs and account for alerts.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3FC8A-85DC-4AA7-91A8-80675171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Immutable chamber snapshots, scoped locks and post-join reports.</a:t>
            </a:r>
          </a:p>
        </p:txBody>
      </p:sp>
    </p:spTree>
    <p:extLst>
      <p:ext uri="{BB962C8B-B14F-4D97-AF65-F5344CB8AC3E}">
        <p14:creationId xmlns:p14="http://schemas.microsoft.com/office/powerpoint/2010/main" val="1992422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513C6-B869-4D63-8A1F-DBFCE23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Accepted work must finish or fail visibly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5B037-B4F8-4A52-9E8B-497C5C37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Explicit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2592-5461-4E82-AF93-F4CEA24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Close admission, drain accepted commands and observe producer or consumer failure.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DC515-721F-469B-AF18-D8C60EC5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Complete report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5B973-CD62-4DEE-ADC3-9C7214F0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Write a unique sibling file and replace; failed preparation preserves the old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7B0D5-0E48-41AA-910F-A241412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Report operation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5ABB5-4E4A-42F9-8202-C1A908F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Archive cannot split the daily block; state updates and file saves remain independent.</a:t>
            </a:r>
          </a:p>
        </p:txBody>
      </p:sp>
    </p:spTree>
    <p:extLst>
      <p:ext uri="{BB962C8B-B14F-4D97-AF65-F5344CB8AC3E}">
        <p14:creationId xmlns:p14="http://schemas.microsoft.com/office/powerpoint/2010/main" val="1059155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9D3FB-8D8E-4A38-8B45-CCAE8708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Crop changes use the existing registry and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DD189-EF07-4F83-8712-EAEAF35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Register and process Kale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0340C-EDE5-44A3-9C57-340D52F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One immutable profile; CH5 receives an alert, charge and mitigation.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D0A8-C085-4B07-B573-E136783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Remove and process again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FA8F-EC7C-440B-BBFB-9913A70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Crop-specific checks stop on later readings; global light/nutrient rules remain.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55D17-0EBC-4A5A-ABFF-6D5C7B8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Keep the default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29E6-66D5-4F8A-82D3-61F3F8C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Six original profiles and four standard chambers are unchanged.</a:t>
            </a:r>
          </a:p>
        </p:txBody>
      </p:sp>
    </p:spTree>
    <p:extLst>
      <p:ext uri="{BB962C8B-B14F-4D97-AF65-F5344CB8AC3E}">
        <p14:creationId xmlns:p14="http://schemas.microsoft.com/office/powerpoint/2010/main" val="1134605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724D8-D071-4FCC-901A-A350D23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Verification is evidence with stated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05CD6-2F20-40D6-B92A-3A6B574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280 tests pass; original-system oracle retained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B521-9F6E-420A-A065-AB29E88F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Critical close, subscription and report-order schedules repeat 20 times.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E1029-6138-4E13-BA7A-B030C5D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96.2% lines; 89.5% branches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EB10-EC7C-4610-B07A-AEB0C429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Every new or modified branch decision is covered; residual inherited paths are listed.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2897-C27B-46DD-B16D-503F8FB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Verify the exact extracted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6DEE6-AB79-4DDD-A42C-CC92540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defPPr>
            <a:lvl1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1pPr>
            <a:lvl2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2pPr>
            <a:lvl3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3pPr>
            <a:lvl4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4pPr>
            <a:lvl5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5pPr>
            <a:lvl6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6pPr>
            <a:lvl7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7pPr>
            <a:lvl8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8pPr>
            <a:lvl9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Rebuild source, execute its JAR and crop demo, inspect DOCX aliases and checksums.</a:t>
            </a:r>
          </a:p>
        </p:txBody>
      </p:sp>
    </p:spTree>
    <p:extLst>
      <p:ext uri="{BB962C8B-B14F-4D97-AF65-F5344CB8AC3E}">
        <p14:creationId xmlns:p14="http://schemas.microsoft.com/office/powerpoint/2010/main" val="1994806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2026-10-31T11:15:15.1320000Z</dcterms:created>
  <dcterms:modified xsi:type="dcterms:W3CDTF">2026-10-31T11:15:15.1320000Z</dcterms:modified>
</coreProperties>
</file>